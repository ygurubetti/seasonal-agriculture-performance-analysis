
<file path=[Content_Types].xml><?xml version="1.0" encoding="utf-8"?>
<Types xmlns="http://schemas.openxmlformats.org/package/2006/content-types">
  <Default Extension="jfif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47" r:id="rId4"/>
  </p:sldMasterIdLst>
  <p:notesMasterIdLst>
    <p:notesMasterId r:id="rId19"/>
  </p:notesMasterIdLst>
  <p:handoutMasterIdLst>
    <p:handoutMasterId r:id="rId20"/>
  </p:handoutMasterIdLst>
  <p:sldIdLst>
    <p:sldId id="338" r:id="rId5"/>
    <p:sldId id="327" r:id="rId6"/>
    <p:sldId id="315" r:id="rId7"/>
    <p:sldId id="329" r:id="rId8"/>
    <p:sldId id="302" r:id="rId9"/>
    <p:sldId id="339" r:id="rId10"/>
    <p:sldId id="340" r:id="rId11"/>
    <p:sldId id="344" r:id="rId12"/>
    <p:sldId id="345" r:id="rId13"/>
    <p:sldId id="346" r:id="rId14"/>
    <p:sldId id="341" r:id="rId15"/>
    <p:sldId id="342" r:id="rId16"/>
    <p:sldId id="343" r:id="rId17"/>
    <p:sldId id="304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968" userDrawn="1">
          <p15:clr>
            <a:srgbClr val="A4A3A4"/>
          </p15:clr>
        </p15:guide>
        <p15:guide id="2" pos="408" userDrawn="1">
          <p15:clr>
            <a:srgbClr val="A4A3A4"/>
          </p15:clr>
        </p15:guide>
        <p15:guide id="3" orient="horz" pos="3912" userDrawn="1">
          <p15:clr>
            <a:srgbClr val="A4A3A4"/>
          </p15:clr>
        </p15:guide>
        <p15:guide id="4" pos="7272" userDrawn="1">
          <p15:clr>
            <a:srgbClr val="A4A3A4"/>
          </p15:clr>
        </p15:guide>
        <p15:guide id="5" orient="horz" pos="1656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9D9D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EFC87CC-F166-4953-8109-5884B6CB60D8}" v="2" dt="2026-09-09T14:59:21.281"/>
  </p1510:revLst>
</p1510:revInfo>
</file>

<file path=ppt/tableStyles.xml><?xml version="1.0" encoding="utf-8"?>
<a:tblStyleLst xmlns:a="http://schemas.openxmlformats.org/drawingml/2006/main" def="{6E25E649-3F16-4E02-A733-19D2CDBF48F0}"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0084" autoAdjust="0"/>
    <p:restoredTop sz="95033" autoAdjust="0"/>
  </p:normalViewPr>
  <p:slideViewPr>
    <p:cSldViewPr snapToGrid="0">
      <p:cViewPr>
        <p:scale>
          <a:sx n="50" d="100"/>
          <a:sy n="50" d="100"/>
        </p:scale>
        <p:origin x="202" y="898"/>
      </p:cViewPr>
      <p:guideLst>
        <p:guide orient="horz" pos="1968"/>
        <p:guide pos="408"/>
        <p:guide orient="horz" pos="3912"/>
        <p:guide pos="7272"/>
        <p:guide orient="horz" pos="1656"/>
      </p:guideLst>
    </p:cSldViewPr>
  </p:slideViewPr>
  <p:outlineViewPr>
    <p:cViewPr>
      <p:scale>
        <a:sx n="33" d="100"/>
        <a:sy n="33" d="100"/>
      </p:scale>
      <p:origin x="0" y="-4886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10" d="100"/>
        <a:sy n="110" d="100"/>
      </p:scale>
      <p:origin x="0" y="-965"/>
    </p:cViewPr>
  </p:sorterViewPr>
  <p:notesViewPr>
    <p:cSldViewPr snapToGrid="0">
      <p:cViewPr varScale="1">
        <p:scale>
          <a:sx n="60" d="100"/>
          <a:sy n="60" d="100"/>
        </p:scale>
        <p:origin x="3187" y="4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microsoft.com/office/2015/10/relationships/revisionInfo" Target="revisionInfo.xml"/><Relationship Id="rId3" Type="http://schemas.openxmlformats.org/officeDocument/2006/relationships/customXml" Target="../customXml/item3.xml"/><Relationship Id="rId21" Type="http://schemas.openxmlformats.org/officeDocument/2006/relationships/presProps" Target="presProps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microsoft.com/office/2016/11/relationships/changesInfo" Target="changesInfos/changesInfo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handoutMaster" Target="handoutMasters/handoutMaster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notesMaster" Target="notesMasters/notesMaster1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gurubetti@gmail.com" userId="a588a26fb989e147" providerId="LiveId" clId="{234980D4-123C-4964-AD12-A6EEE24EACE6}"/>
    <pc:docChg chg="modSld">
      <pc:chgData name="ygurubetti@gmail.com" userId="a588a26fb989e147" providerId="LiveId" clId="{234980D4-123C-4964-AD12-A6EEE24EACE6}" dt="2026-09-09T14:59:34.660" v="3" actId="1076"/>
      <pc:docMkLst>
        <pc:docMk/>
      </pc:docMkLst>
      <pc:sldChg chg="addSp modSp mod">
        <pc:chgData name="ygurubetti@gmail.com" userId="a588a26fb989e147" providerId="LiveId" clId="{234980D4-123C-4964-AD12-A6EEE24EACE6}" dt="2026-09-09T14:59:34.660" v="3" actId="1076"/>
        <pc:sldMkLst>
          <pc:docMk/>
          <pc:sldMk cId="1604013440" sldId="338"/>
        </pc:sldMkLst>
        <pc:spChg chg="mod">
          <ac:chgData name="ygurubetti@gmail.com" userId="a588a26fb989e147" providerId="LiveId" clId="{234980D4-123C-4964-AD12-A6EEE24EACE6}" dt="2026-09-09T14:59:21.281" v="1"/>
          <ac:spMkLst>
            <pc:docMk/>
            <pc:sldMk cId="1604013440" sldId="338"/>
            <ac:spMk id="3" creationId="{17F04107-8754-E47D-3375-529E689711FA}"/>
          </ac:spMkLst>
        </pc:spChg>
        <pc:spChg chg="add mod">
          <ac:chgData name="ygurubetti@gmail.com" userId="a588a26fb989e147" providerId="LiveId" clId="{234980D4-123C-4964-AD12-A6EEE24EACE6}" dt="2026-09-09T14:59:34.660" v="3" actId="1076"/>
          <ac:spMkLst>
            <pc:docMk/>
            <pc:sldMk cId="1604013440" sldId="338"/>
            <ac:spMk id="10" creationId="{5C21FC12-B2E1-C4EB-8FA3-A29FE681053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B76F666D-E0C2-435B-BAA8-9287F9E5D38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9FEBCAF-CB3F-4928-91AA-D61472F880C0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F1077DB-935E-4A0A-947A-D283B9F9F452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9256698-63C6-4CCC-81CB-EA5604C30F1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467FDA-05D7-4760-A373-5D6AEAAF4278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82C0B10-7CAE-41E4-AB02-7E8B1FF2B89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875375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9EC30E-1A71-4188-9BE7-E2A64929A436}" type="datetimeFigureOut">
              <a:rPr lang="en-US" noProof="0" smtClean="0"/>
              <a:t>9/9/2026</a:t>
            </a:fld>
            <a:endParaRPr lang="en-US" noProof="0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noProof="0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noProof="0"/>
              <a:t>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noProof="0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530193B-564F-4854-8A52-728F3FB19C85}" type="slidenum">
              <a:rPr lang="en-US" noProof="0" smtClean="0"/>
              <a:t>‹#›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3603816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530193B-564F-4854-8A52-728F3FB19C85}" type="slidenum">
              <a:rPr lang="en-US" noProof="0" smtClean="0"/>
              <a:t>5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250791223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oup 15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sp>
          <p:nvSpPr>
            <p:cNvPr id="15" name="Freeform 14"/>
            <p:cNvSpPr/>
            <p:nvPr/>
          </p:nvSpPr>
          <p:spPr>
            <a:xfrm>
              <a:off x="0" y="-7862"/>
              <a:ext cx="863600" cy="5698067"/>
            </a:xfrm>
            <a:custGeom>
              <a:avLst/>
              <a:gdLst/>
              <a:ahLst/>
              <a:cxnLst/>
              <a:rect l="l" t="t" r="r" b="b"/>
              <a:pathLst>
                <a:path w="863600" h="5698067">
                  <a:moveTo>
                    <a:pt x="0" y="8467"/>
                  </a:moveTo>
                  <a:lnTo>
                    <a:pt x="863600" y="0"/>
                  </a:lnTo>
                  <a:lnTo>
                    <a:pt x="863600" y="16934"/>
                  </a:lnTo>
                  <a:lnTo>
                    <a:pt x="0" y="5698067"/>
                  </a:lnTo>
                  <a:lnTo>
                    <a:pt x="0" y="8467"/>
                  </a:lnTo>
                  <a:close/>
                </a:path>
              </a:pathLst>
            </a:cu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cxnSp>
          <p:nvCxnSpPr>
            <p:cNvPr id="19" name="Straight Connector 18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Connector 19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1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2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Isosceles Triangle 22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Isosceles Triangle 26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07067" y="2404534"/>
            <a:ext cx="7766936" cy="1646302"/>
          </a:xfrm>
        </p:spPr>
        <p:txBody>
          <a:bodyPr anchor="b">
            <a:noAutofit/>
          </a:bodyPr>
          <a:lstStyle>
            <a:lvl1pPr algn="r">
              <a:defRPr sz="540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07067" y="4050833"/>
            <a:ext cx="7766936" cy="1096899"/>
          </a:xfrm>
        </p:spPr>
        <p:txBody>
          <a:bodyPr anchor="t"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0022032"/>
      </p:ext>
    </p:extLst>
  </p:cSld>
  <p:clrMapOvr>
    <a:masterClrMapping/>
  </p:clrMapOvr>
  <p:hf hdr="0" ft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660528460"/>
      </p:ext>
    </p:extLst>
  </p:cSld>
  <p:clrMapOvr>
    <a:masterClrMapping/>
  </p:clrMapOvr>
  <p:hf hdr="0" ft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2700867"/>
            <a:ext cx="8596668" cy="1826581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7669602"/>
      </p:ext>
    </p:extLst>
  </p:cSld>
  <p:clrMapOvr>
    <a:masterClrMapping/>
  </p:clrMapOvr>
  <p:hf hdr="0" ftr="0" dt="0"/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77334" y="2160589"/>
            <a:ext cx="4184035" cy="3880772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89970" y="2160589"/>
            <a:ext cx="4184034" cy="388077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B712588-04B1-427B-82EE-E8DB90309F08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FF9F0C5-380F-41C2-899A-BAC0F0927E1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97459935"/>
      </p:ext>
    </p:extLst>
  </p:cSld>
  <p:clrMapOvr>
    <a:masterClrMapping/>
  </p:clrMapOvr>
  <p:hf hdr="0" ftr="0" dt="0"/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745" y="2160983"/>
            <a:ext cx="418562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75745" y="2737245"/>
            <a:ext cx="4185623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88383" y="2160983"/>
            <a:ext cx="418561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88384" y="2737245"/>
            <a:ext cx="4185617" cy="330411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63239096"/>
      </p:ext>
    </p:extLst>
  </p:cSld>
  <p:clrMapOvr>
    <a:masterClrMapping/>
  </p:clrMapOvr>
  <p:hf hdr="0" ftr="0" dt="0"/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9196543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86897335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1498604"/>
            <a:ext cx="3854528" cy="1278466"/>
          </a:xfrm>
        </p:spPr>
        <p:txBody>
          <a:bodyPr anchor="b">
            <a:normAutofit/>
          </a:bodyPr>
          <a:lstStyle>
            <a:lvl1pPr>
              <a:defRPr sz="2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0461" y="514924"/>
            <a:ext cx="4513541" cy="5526437"/>
          </a:xfrm>
        </p:spPr>
        <p:txBody>
          <a:bodyPr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2777069"/>
            <a:ext cx="3854528" cy="2584449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063" indent="0">
              <a:buNone/>
              <a:defRPr sz="1400"/>
            </a:lvl2pPr>
            <a:lvl3pPr marL="914126" indent="0">
              <a:buNone/>
              <a:defRPr sz="1200"/>
            </a:lvl3pPr>
            <a:lvl4pPr marL="1371189" indent="0">
              <a:buNone/>
              <a:defRPr sz="1000"/>
            </a:lvl4pPr>
            <a:lvl5pPr marL="1828251" indent="0">
              <a:buNone/>
              <a:defRPr sz="1000"/>
            </a:lvl5pPr>
            <a:lvl6pPr marL="2285314" indent="0">
              <a:buNone/>
              <a:defRPr sz="1000"/>
            </a:lvl6pPr>
            <a:lvl7pPr marL="2742377" indent="0">
              <a:buNone/>
              <a:defRPr sz="1000"/>
            </a:lvl7pPr>
            <a:lvl8pPr marL="3199440" indent="0">
              <a:buNone/>
              <a:defRPr sz="1000"/>
            </a:lvl8pPr>
            <a:lvl9pPr marL="3656503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54C80-263E-416B-A8E0-580EDEADCBDC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19954A3-9DFD-4C44-94BA-B95130A3BA1C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9620618"/>
      </p:ext>
    </p:extLst>
  </p:cSld>
  <p:clrMapOvr>
    <a:masterClrMapping/>
  </p:clrMapOvr>
  <p:hf hdr="0" ftr="0" dt="0"/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4" y="4800600"/>
            <a:ext cx="859666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77334" y="609600"/>
            <a:ext cx="8596668" cy="3845718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77334" y="5367338"/>
            <a:ext cx="8596667" cy="674024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30304514"/>
      </p:ext>
    </p:extLst>
  </p:cSld>
  <p:clrMapOvr>
    <a:masterClrMapping/>
  </p:clrMapOvr>
  <p:hf hdr="0" ftr="0" dt="0"/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609600"/>
            <a:ext cx="8596668" cy="3403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38109717"/>
      </p:ext>
    </p:extLst>
  </p:cSld>
  <p:clrMapOvr>
    <a:masterClrMapping/>
  </p:clrMapOvr>
  <p:hf hdr="0" ftr="0" dt="0"/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366139" y="3632200"/>
            <a:ext cx="722452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470400"/>
            <a:ext cx="8596668" cy="1570962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322563127"/>
      </p:ext>
    </p:extLst>
  </p:cSld>
  <p:clrMapOvr>
    <a:masterClrMapping/>
  </p:clrMapOvr>
  <p:hf hdr="0" ftr="0" dt="0"/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7335" y="1931988"/>
            <a:ext cx="8596668" cy="2595460"/>
          </a:xfrm>
        </p:spPr>
        <p:txBody>
          <a:bodyPr anchor="b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28478255"/>
      </p:ext>
    </p:extLst>
  </p:cSld>
  <p:clrMapOvr>
    <a:masterClrMapping/>
  </p:clrMapOvr>
  <p:hf hdr="0" ftr="0" dt="0"/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31334" y="609600"/>
            <a:ext cx="8094134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24" name="TextBox 23"/>
          <p:cNvSpPr txBox="1"/>
          <p:nvPr/>
        </p:nvSpPr>
        <p:spPr>
          <a:xfrm>
            <a:off x="541870" y="7903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3011" y="288655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>
                    <a:lumMod val="60000"/>
                    <a:lumOff val="40000"/>
                  </a:schemeClr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26250616"/>
      </p:ext>
    </p:extLst>
  </p:cSld>
  <p:clrMapOvr>
    <a:masterClrMapping/>
  </p:clrMapOvr>
  <p:hf hdr="0" ftr="0" dt="0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799" y="609600"/>
            <a:ext cx="8588203" cy="3022600"/>
          </a:xfrm>
        </p:spPr>
        <p:txBody>
          <a:bodyPr anchor="ctr">
            <a:normAutofit/>
          </a:bodyPr>
          <a:lstStyle>
            <a:lvl1pPr algn="l">
              <a:defRPr sz="44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77332" y="4013200"/>
            <a:ext cx="8596669" cy="514248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5" y="4527448"/>
            <a:ext cx="8596668" cy="1513914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3561930"/>
      </p:ext>
    </p:extLst>
  </p:cSld>
  <p:clrMapOvr>
    <a:masterClrMapping/>
  </p:clrMapOvr>
  <p:hf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5C6B4A9-1611-4792-9094-5F34BCA07E0B}" type="datetimeFigureOut">
              <a:rPr lang="en-US" smtClean="0"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333C77-0158-454C-844F-B7AB9BD7DAD4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77920135"/>
      </p:ext>
    </p:extLst>
  </p:cSld>
  <p:clrMapOvr>
    <a:masterClrMapping/>
  </p:clrMapOvr>
  <p:hf hdr="0" ftr="0" dt="0"/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967673" y="609599"/>
            <a:ext cx="1304743" cy="5251451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77335" y="609600"/>
            <a:ext cx="7060150" cy="5251450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5619384"/>
      </p:ext>
    </p:extLst>
  </p:cSld>
  <p:clrMapOvr>
    <a:masterClrMapping/>
  </p:clrMapOvr>
  <p:hf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6FDA3C6F-5F6A-4D64-8BFE-AFFF58B1A04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6312871" y="4141999"/>
            <a:ext cx="4220845" cy="861497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2000" b="1">
                <a:solidFill>
                  <a:schemeClr val="accent4"/>
                </a:solidFill>
                <a:latin typeface="+mj-lt"/>
              </a:defRPr>
            </a:lvl1pPr>
            <a:lvl2pPr>
              <a:buNone/>
              <a:defRPr sz="2000"/>
            </a:lvl2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Hexagon 14">
            <a:extLst>
              <a:ext uri="{FF2B5EF4-FFF2-40B4-BE49-F238E27FC236}">
                <a16:creationId xmlns:a16="http://schemas.microsoft.com/office/drawing/2014/main" id="{AC159667-7690-4645-986D-BE501438455F}"/>
              </a:ext>
            </a:extLst>
          </p:cNvPr>
          <p:cNvSpPr/>
          <p:nvPr userDrawn="1"/>
        </p:nvSpPr>
        <p:spPr>
          <a:xfrm>
            <a:off x="740309" y="1382809"/>
            <a:ext cx="1229566" cy="1059971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Hexagon 15">
            <a:extLst>
              <a:ext uri="{FF2B5EF4-FFF2-40B4-BE49-F238E27FC236}">
                <a16:creationId xmlns:a16="http://schemas.microsoft.com/office/drawing/2014/main" id="{54667EE4-E77F-453B-BF8B-B1EE2AE80715}"/>
              </a:ext>
            </a:extLst>
          </p:cNvPr>
          <p:cNvSpPr/>
          <p:nvPr userDrawn="1"/>
        </p:nvSpPr>
        <p:spPr>
          <a:xfrm>
            <a:off x="3755031" y="1194620"/>
            <a:ext cx="1666162" cy="1436347"/>
          </a:xfrm>
          <a:prstGeom prst="hexagon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Hexagon 16">
            <a:extLst>
              <a:ext uri="{FF2B5EF4-FFF2-40B4-BE49-F238E27FC236}">
                <a16:creationId xmlns:a16="http://schemas.microsoft.com/office/drawing/2014/main" id="{FC050232-A229-425F-BFC8-D50374F2D171}"/>
              </a:ext>
            </a:extLst>
          </p:cNvPr>
          <p:cNvSpPr/>
          <p:nvPr userDrawn="1"/>
        </p:nvSpPr>
        <p:spPr>
          <a:xfrm>
            <a:off x="3804994" y="5233183"/>
            <a:ext cx="718261" cy="619191"/>
          </a:xfrm>
          <a:prstGeom prst="hexagon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Hexagon 17">
            <a:extLst>
              <a:ext uri="{FF2B5EF4-FFF2-40B4-BE49-F238E27FC236}">
                <a16:creationId xmlns:a16="http://schemas.microsoft.com/office/drawing/2014/main" id="{53E4EBC7-340A-43A5-9E23-4B73A6F700B6}"/>
              </a:ext>
            </a:extLst>
          </p:cNvPr>
          <p:cNvSpPr/>
          <p:nvPr userDrawn="1"/>
        </p:nvSpPr>
        <p:spPr>
          <a:xfrm>
            <a:off x="1837838" y="1101306"/>
            <a:ext cx="651613" cy="561736"/>
          </a:xfrm>
          <a:prstGeom prst="hexagon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Picture Placeholder 18">
            <a:extLst>
              <a:ext uri="{FF2B5EF4-FFF2-40B4-BE49-F238E27FC236}">
                <a16:creationId xmlns:a16="http://schemas.microsoft.com/office/drawing/2014/main" id="{1ED0E31A-F0A3-481D-8D9C-E3C4531FD21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571515" y="1914044"/>
            <a:ext cx="3993624" cy="3617848"/>
          </a:xfrm>
          <a:custGeom>
            <a:avLst/>
            <a:gdLst>
              <a:gd name="connsiteX0" fmla="*/ 1223161 w 3993624"/>
              <a:gd name="connsiteY0" fmla="*/ 2354088 h 3617848"/>
              <a:gd name="connsiteX1" fmla="*/ 2057242 w 3993624"/>
              <a:gd name="connsiteY1" fmla="*/ 2354088 h 3617848"/>
              <a:gd name="connsiteX2" fmla="*/ 2373182 w 3993624"/>
              <a:gd name="connsiteY2" fmla="*/ 2985968 h 3617848"/>
              <a:gd name="connsiteX3" fmla="*/ 2057242 w 3993624"/>
              <a:gd name="connsiteY3" fmla="*/ 3617848 h 3617848"/>
              <a:gd name="connsiteX4" fmla="*/ 1223161 w 3993624"/>
              <a:gd name="connsiteY4" fmla="*/ 3617848 h 3617848"/>
              <a:gd name="connsiteX5" fmla="*/ 907221 w 3993624"/>
              <a:gd name="connsiteY5" fmla="*/ 2985968 h 3617848"/>
              <a:gd name="connsiteX6" fmla="*/ 2569631 w 3993624"/>
              <a:gd name="connsiteY6" fmla="*/ 1425984 h 3617848"/>
              <a:gd name="connsiteX7" fmla="*/ 3602417 w 3993624"/>
              <a:gd name="connsiteY7" fmla="*/ 1425984 h 3617848"/>
              <a:gd name="connsiteX8" fmla="*/ 3993624 w 3993624"/>
              <a:gd name="connsiteY8" fmla="*/ 2208398 h 3617848"/>
              <a:gd name="connsiteX9" fmla="*/ 3602417 w 3993624"/>
              <a:gd name="connsiteY9" fmla="*/ 2990812 h 3617848"/>
              <a:gd name="connsiteX10" fmla="*/ 2569631 w 3993624"/>
              <a:gd name="connsiteY10" fmla="*/ 2990812 h 3617848"/>
              <a:gd name="connsiteX11" fmla="*/ 2178424 w 3993624"/>
              <a:gd name="connsiteY11" fmla="*/ 2208398 h 3617848"/>
              <a:gd name="connsiteX12" fmla="*/ 551406 w 3993624"/>
              <a:gd name="connsiteY12" fmla="*/ 0 h 3617848"/>
              <a:gd name="connsiteX13" fmla="*/ 2007117 w 3993624"/>
              <a:gd name="connsiteY13" fmla="*/ 0 h 3617848"/>
              <a:gd name="connsiteX14" fmla="*/ 2558523 w 3993624"/>
              <a:gd name="connsiteY14" fmla="*/ 1102811 h 3617848"/>
              <a:gd name="connsiteX15" fmla="*/ 2007117 w 3993624"/>
              <a:gd name="connsiteY15" fmla="*/ 2205622 h 3617848"/>
              <a:gd name="connsiteX16" fmla="*/ 551406 w 3993624"/>
              <a:gd name="connsiteY16" fmla="*/ 2205622 h 3617848"/>
              <a:gd name="connsiteX17" fmla="*/ 0 w 3993624"/>
              <a:gd name="connsiteY17" fmla="*/ 1102811 h 361784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</a:cxnLst>
            <a:rect l="l" t="t" r="r" b="b"/>
            <a:pathLst>
              <a:path w="3993624" h="3617848">
                <a:moveTo>
                  <a:pt x="1223161" y="2354088"/>
                </a:moveTo>
                <a:lnTo>
                  <a:pt x="2057242" y="2354088"/>
                </a:lnTo>
                <a:lnTo>
                  <a:pt x="2373182" y="2985968"/>
                </a:lnTo>
                <a:lnTo>
                  <a:pt x="2057242" y="3617848"/>
                </a:lnTo>
                <a:lnTo>
                  <a:pt x="1223161" y="3617848"/>
                </a:lnTo>
                <a:lnTo>
                  <a:pt x="907221" y="2985968"/>
                </a:lnTo>
                <a:close/>
                <a:moveTo>
                  <a:pt x="2569631" y="1425984"/>
                </a:moveTo>
                <a:lnTo>
                  <a:pt x="3602417" y="1425984"/>
                </a:lnTo>
                <a:lnTo>
                  <a:pt x="3993624" y="2208398"/>
                </a:lnTo>
                <a:lnTo>
                  <a:pt x="3602417" y="2990812"/>
                </a:lnTo>
                <a:lnTo>
                  <a:pt x="2569631" y="2990812"/>
                </a:lnTo>
                <a:lnTo>
                  <a:pt x="2178424" y="2208398"/>
                </a:lnTo>
                <a:close/>
                <a:moveTo>
                  <a:pt x="551406" y="0"/>
                </a:moveTo>
                <a:lnTo>
                  <a:pt x="2007117" y="0"/>
                </a:lnTo>
                <a:lnTo>
                  <a:pt x="2558523" y="1102811"/>
                </a:lnTo>
                <a:lnTo>
                  <a:pt x="2007117" y="2205622"/>
                </a:lnTo>
                <a:lnTo>
                  <a:pt x="551406" y="2205622"/>
                </a:lnTo>
                <a:lnTo>
                  <a:pt x="0" y="1102811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3E68100-C56F-4515-A4FD-3F301797E7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12871" y="2050552"/>
            <a:ext cx="4998720" cy="1748983"/>
          </a:xfrm>
          <a:prstGeom prst="rect">
            <a:avLst/>
          </a:prstGeom>
        </p:spPr>
        <p:txBody>
          <a:bodyPr/>
          <a:lstStyle>
            <a:lvl1pPr>
              <a:defRPr sz="2800">
                <a:solidFill>
                  <a:schemeClr val="tx1"/>
                </a:solidFill>
                <a:latin typeface="+mn-lt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919467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272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24FAA9D0-7C9C-4043-9931-A15819ABB9B5}"/>
              </a:ext>
            </a:extLst>
          </p:cNvPr>
          <p:cNvSpPr/>
          <p:nvPr userDrawn="1"/>
        </p:nvSpPr>
        <p:spPr>
          <a:xfrm>
            <a:off x="7362825" y="443263"/>
            <a:ext cx="361950" cy="361950"/>
          </a:xfrm>
          <a:prstGeom prst="ellipse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232AB2D-843E-4B5F-8793-6A263DA356BB}"/>
              </a:ext>
            </a:extLst>
          </p:cNvPr>
          <p:cNvSpPr/>
          <p:nvPr userDrawn="1"/>
        </p:nvSpPr>
        <p:spPr>
          <a:xfrm>
            <a:off x="11007246" y="5605994"/>
            <a:ext cx="654227" cy="65422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FA75A12B-C399-4072-BD69-D872D2C2AD1F}"/>
              </a:ext>
            </a:extLst>
          </p:cNvPr>
          <p:cNvSpPr/>
          <p:nvPr userDrawn="1"/>
        </p:nvSpPr>
        <p:spPr>
          <a:xfrm>
            <a:off x="10683791" y="6132439"/>
            <a:ext cx="251152" cy="251152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solidFill>
                <a:schemeClr val="accent5"/>
              </a:solidFill>
            </a:endParaRPr>
          </a:p>
        </p:txBody>
      </p:sp>
      <p:sp>
        <p:nvSpPr>
          <p:cNvPr id="23" name="Picture Placeholder 22">
            <a:extLst>
              <a:ext uri="{FF2B5EF4-FFF2-40B4-BE49-F238E27FC236}">
                <a16:creationId xmlns:a16="http://schemas.microsoft.com/office/drawing/2014/main" id="{423AE48B-50E9-4BEA-B66A-B2D2B9CCFE9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733416" y="624239"/>
            <a:ext cx="5855754" cy="5631571"/>
          </a:xfrm>
          <a:custGeom>
            <a:avLst/>
            <a:gdLst>
              <a:gd name="connsiteX0" fmla="*/ 3433020 w 5855754"/>
              <a:gd name="connsiteY0" fmla="*/ 786103 h 5631571"/>
              <a:gd name="connsiteX1" fmla="*/ 5855754 w 5855754"/>
              <a:gd name="connsiteY1" fmla="*/ 3208837 h 5631571"/>
              <a:gd name="connsiteX2" fmla="*/ 3433020 w 5855754"/>
              <a:gd name="connsiteY2" fmla="*/ 5631571 h 5631571"/>
              <a:gd name="connsiteX3" fmla="*/ 1010286 w 5855754"/>
              <a:gd name="connsiteY3" fmla="*/ 3208837 h 5631571"/>
              <a:gd name="connsiteX4" fmla="*/ 3433020 w 5855754"/>
              <a:gd name="connsiteY4" fmla="*/ 786103 h 5631571"/>
              <a:gd name="connsiteX5" fmla="*/ 828675 w 5855754"/>
              <a:gd name="connsiteY5" fmla="*/ 0 h 5631571"/>
              <a:gd name="connsiteX6" fmla="*/ 1657350 w 5855754"/>
              <a:gd name="connsiteY6" fmla="*/ 828675 h 5631571"/>
              <a:gd name="connsiteX7" fmla="*/ 828675 w 5855754"/>
              <a:gd name="connsiteY7" fmla="*/ 1657350 h 5631571"/>
              <a:gd name="connsiteX8" fmla="*/ 0 w 5855754"/>
              <a:gd name="connsiteY8" fmla="*/ 828675 h 5631571"/>
              <a:gd name="connsiteX9" fmla="*/ 828675 w 5855754"/>
              <a:gd name="connsiteY9" fmla="*/ 0 h 56315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5855754" h="5631571">
                <a:moveTo>
                  <a:pt x="3433020" y="786103"/>
                </a:moveTo>
                <a:cubicBezTo>
                  <a:pt x="4771059" y="786103"/>
                  <a:pt x="5855754" y="1870798"/>
                  <a:pt x="5855754" y="3208837"/>
                </a:cubicBezTo>
                <a:cubicBezTo>
                  <a:pt x="5855754" y="4546876"/>
                  <a:pt x="4771059" y="5631571"/>
                  <a:pt x="3433020" y="5631571"/>
                </a:cubicBezTo>
                <a:cubicBezTo>
                  <a:pt x="2094981" y="5631571"/>
                  <a:pt x="1010286" y="4546876"/>
                  <a:pt x="1010286" y="3208837"/>
                </a:cubicBezTo>
                <a:cubicBezTo>
                  <a:pt x="1010286" y="1870798"/>
                  <a:pt x="2094981" y="786103"/>
                  <a:pt x="3433020" y="786103"/>
                </a:cubicBezTo>
                <a:close/>
                <a:moveTo>
                  <a:pt x="828675" y="0"/>
                </a:moveTo>
                <a:cubicBezTo>
                  <a:pt x="1286340" y="0"/>
                  <a:pt x="1657350" y="371010"/>
                  <a:pt x="1657350" y="828675"/>
                </a:cubicBezTo>
                <a:cubicBezTo>
                  <a:pt x="1657350" y="1286340"/>
                  <a:pt x="1286340" y="1657350"/>
                  <a:pt x="828675" y="1657350"/>
                </a:cubicBezTo>
                <a:cubicBezTo>
                  <a:pt x="371010" y="1657350"/>
                  <a:pt x="0" y="1286340"/>
                  <a:pt x="0" y="828675"/>
                </a:cubicBezTo>
                <a:cubicBezTo>
                  <a:pt x="0" y="371010"/>
                  <a:pt x="371010" y="0"/>
                  <a:pt x="828675" y="0"/>
                </a:cubicBez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26">
            <a:extLst>
              <a:ext uri="{FF2B5EF4-FFF2-40B4-BE49-F238E27FC236}">
                <a16:creationId xmlns:a16="http://schemas.microsoft.com/office/drawing/2014/main" id="{282D3E62-6D1A-4E9D-BE54-2EED9BF429A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lnSpc>
                <a:spcPct val="150000"/>
              </a:lnSpc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DEB8F0E5-B89F-48AD-87BD-534EA9463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513958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26">
            <a:extLst>
              <a:ext uri="{FF2B5EF4-FFF2-40B4-BE49-F238E27FC236}">
                <a16:creationId xmlns:a16="http://schemas.microsoft.com/office/drawing/2014/main" id="{4AA38E8C-A334-4183-8ABC-112B8517F487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60400" y="2044700"/>
            <a:ext cx="4275138" cy="3560763"/>
          </a:xfrm>
          <a:prstGeom prst="rect">
            <a:avLst/>
          </a:prstGeom>
        </p:spPr>
        <p:txBody>
          <a:bodyPr/>
          <a:lstStyle>
            <a:lvl1pPr>
              <a:buClr>
                <a:schemeClr val="accent4"/>
              </a:buClr>
              <a:buFont typeface="Wingdings" panose="05000000000000000000" pitchFamily="2" charset="2"/>
              <a:buChar char="§"/>
              <a:defRPr sz="2000"/>
            </a:lvl1pPr>
            <a:lvl2pPr>
              <a:buClr>
                <a:schemeClr val="accent4"/>
              </a:buClr>
              <a:buFont typeface="Wingdings" panose="05000000000000000000" pitchFamily="2" charset="2"/>
              <a:buChar char="§"/>
              <a:defRPr sz="1800"/>
            </a:lvl2pPr>
            <a:lvl3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3pPr>
            <a:lvl4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4pPr>
            <a:lvl5pPr>
              <a:buClr>
                <a:schemeClr val="accent4"/>
              </a:buClr>
              <a:buFont typeface="Wingdings" panose="05000000000000000000" pitchFamily="2" charset="2"/>
              <a:buChar char="§"/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B80624A4-5116-4AAF-8C31-C25D1DB16FEC}"/>
              </a:ext>
            </a:extLst>
          </p:cNvPr>
          <p:cNvSpPr/>
          <p:nvPr userDrawn="1"/>
        </p:nvSpPr>
        <p:spPr>
          <a:xfrm>
            <a:off x="9354457" y="5363987"/>
            <a:ext cx="457200" cy="4572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1D07EC8A-6024-4DEA-9C4D-AE4228E17854}"/>
              </a:ext>
            </a:extLst>
          </p:cNvPr>
          <p:cNvSpPr/>
          <p:nvPr userDrawn="1"/>
        </p:nvSpPr>
        <p:spPr>
          <a:xfrm>
            <a:off x="6692791" y="1699889"/>
            <a:ext cx="319749" cy="31974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D1C8FAEF-DF78-48CC-AEEF-F9B802055C05}"/>
              </a:ext>
            </a:extLst>
          </p:cNvPr>
          <p:cNvSpPr/>
          <p:nvPr userDrawn="1"/>
        </p:nvSpPr>
        <p:spPr>
          <a:xfrm>
            <a:off x="9354457" y="5897738"/>
            <a:ext cx="179977" cy="179977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566F72D6-AEEE-4CF3-8136-F6782F1E489E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090227" y="786181"/>
            <a:ext cx="4441372" cy="5393036"/>
          </a:xfrm>
          <a:custGeom>
            <a:avLst/>
            <a:gdLst>
              <a:gd name="connsiteX0" fmla="*/ 0 w 4441372"/>
              <a:gd name="connsiteY0" fmla="*/ 3188969 h 5393036"/>
              <a:gd name="connsiteX1" fmla="*/ 2173516 w 4441372"/>
              <a:gd name="connsiteY1" fmla="*/ 3188969 h 5393036"/>
              <a:gd name="connsiteX2" fmla="*/ 2173516 w 4441372"/>
              <a:gd name="connsiteY2" fmla="*/ 5393036 h 5393036"/>
              <a:gd name="connsiteX3" fmla="*/ 0 w 4441372"/>
              <a:gd name="connsiteY3" fmla="*/ 5393036 h 5393036"/>
              <a:gd name="connsiteX4" fmla="*/ 2267856 w 4441372"/>
              <a:gd name="connsiteY4" fmla="*/ 2293018 h 5393036"/>
              <a:gd name="connsiteX5" fmla="*/ 4441372 w 4441372"/>
              <a:gd name="connsiteY5" fmla="*/ 2293018 h 5393036"/>
              <a:gd name="connsiteX6" fmla="*/ 4441372 w 4441372"/>
              <a:gd name="connsiteY6" fmla="*/ 4497085 h 5393036"/>
              <a:gd name="connsiteX7" fmla="*/ 2267856 w 4441372"/>
              <a:gd name="connsiteY7" fmla="*/ 4497085 h 5393036"/>
              <a:gd name="connsiteX8" fmla="*/ 0 w 4441372"/>
              <a:gd name="connsiteY8" fmla="*/ 906837 h 5393036"/>
              <a:gd name="connsiteX9" fmla="*/ 2173516 w 4441372"/>
              <a:gd name="connsiteY9" fmla="*/ 906837 h 5393036"/>
              <a:gd name="connsiteX10" fmla="*/ 2173516 w 4441372"/>
              <a:gd name="connsiteY10" fmla="*/ 3110904 h 5393036"/>
              <a:gd name="connsiteX11" fmla="*/ 0 w 4441372"/>
              <a:gd name="connsiteY11" fmla="*/ 3110904 h 5393036"/>
              <a:gd name="connsiteX12" fmla="*/ 2267856 w 4441372"/>
              <a:gd name="connsiteY12" fmla="*/ 0 h 5393036"/>
              <a:gd name="connsiteX13" fmla="*/ 4441372 w 4441372"/>
              <a:gd name="connsiteY13" fmla="*/ 0 h 5393036"/>
              <a:gd name="connsiteX14" fmla="*/ 4441372 w 4441372"/>
              <a:gd name="connsiteY14" fmla="*/ 2204067 h 5393036"/>
              <a:gd name="connsiteX15" fmla="*/ 2267856 w 4441372"/>
              <a:gd name="connsiteY15" fmla="*/ 2204067 h 53930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</a:cxnLst>
            <a:rect l="l" t="t" r="r" b="b"/>
            <a:pathLst>
              <a:path w="4441372" h="5393036">
                <a:moveTo>
                  <a:pt x="0" y="3188969"/>
                </a:moveTo>
                <a:lnTo>
                  <a:pt x="2173516" y="3188969"/>
                </a:lnTo>
                <a:lnTo>
                  <a:pt x="2173516" y="5393036"/>
                </a:lnTo>
                <a:lnTo>
                  <a:pt x="0" y="5393036"/>
                </a:lnTo>
                <a:close/>
                <a:moveTo>
                  <a:pt x="2267856" y="2293018"/>
                </a:moveTo>
                <a:lnTo>
                  <a:pt x="4441372" y="2293018"/>
                </a:lnTo>
                <a:lnTo>
                  <a:pt x="4441372" y="4497085"/>
                </a:lnTo>
                <a:lnTo>
                  <a:pt x="2267856" y="4497085"/>
                </a:lnTo>
                <a:close/>
                <a:moveTo>
                  <a:pt x="0" y="906837"/>
                </a:moveTo>
                <a:lnTo>
                  <a:pt x="2173516" y="906837"/>
                </a:lnTo>
                <a:lnTo>
                  <a:pt x="2173516" y="3110904"/>
                </a:lnTo>
                <a:lnTo>
                  <a:pt x="0" y="3110904"/>
                </a:lnTo>
                <a:close/>
                <a:moveTo>
                  <a:pt x="2267856" y="0"/>
                </a:moveTo>
                <a:lnTo>
                  <a:pt x="4441372" y="0"/>
                </a:lnTo>
                <a:lnTo>
                  <a:pt x="4441372" y="2204067"/>
                </a:lnTo>
                <a:lnTo>
                  <a:pt x="2267856" y="2204067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59DADC7-BE21-4434-A6E4-BAF8090053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400" y="805213"/>
            <a:ext cx="4275138" cy="830997"/>
          </a:xfrm>
          <a:prstGeom prst="rect">
            <a:avLst/>
          </a:prstGeom>
        </p:spPr>
        <p:txBody>
          <a:bodyPr/>
          <a:lstStyle>
            <a:lvl1pPr>
              <a:defRPr sz="4800" b="1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912548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504">
          <p15:clr>
            <a:srgbClr val="FBAE40"/>
          </p15:clr>
        </p15:guide>
        <p15:guide id="2" pos="3840">
          <p15:clr>
            <a:srgbClr val="FBAE40"/>
          </p15:clr>
        </p15:guide>
        <p15:guide id="3" orient="horz" pos="1416">
          <p15:clr>
            <a:srgbClr val="FBAE40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Picture Placeholder 38">
            <a:extLst>
              <a:ext uri="{FF2B5EF4-FFF2-40B4-BE49-F238E27FC236}">
                <a16:creationId xmlns:a16="http://schemas.microsoft.com/office/drawing/2014/main" id="{CF421413-161E-4B36-B693-FB38DF14EDAB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353508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38" name="Picture Placeholder 37">
            <a:extLst>
              <a:ext uri="{FF2B5EF4-FFF2-40B4-BE49-F238E27FC236}">
                <a16:creationId xmlns:a16="http://schemas.microsoft.com/office/drawing/2014/main" id="{B5D207AE-9C9C-410A-9F31-2402BAD6DDFF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11592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0" name="Picture Placeholder 39">
            <a:extLst>
              <a:ext uri="{FF2B5EF4-FFF2-40B4-BE49-F238E27FC236}">
                <a16:creationId xmlns:a16="http://schemas.microsoft.com/office/drawing/2014/main" id="{DE3344FC-C4DE-481F-9C31-667EDD563C4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7602465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1" name="Picture Placeholder 40">
            <a:extLst>
              <a:ext uri="{FF2B5EF4-FFF2-40B4-BE49-F238E27FC236}">
                <a16:creationId xmlns:a16="http://schemas.microsoft.com/office/drawing/2014/main" id="{59094D7D-3613-49C1-BB58-A65B41A9738D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9840051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8" name="Title 1">
            <a:extLst>
              <a:ext uri="{FF2B5EF4-FFF2-40B4-BE49-F238E27FC236}">
                <a16:creationId xmlns:a16="http://schemas.microsoft.com/office/drawing/2014/main" id="{69FE87B7-32A4-4C7F-9AAF-37688E64045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000" y="647700"/>
            <a:ext cx="11340000" cy="700114"/>
          </a:xfrm>
          <a:prstGeom prst="rect">
            <a:avLst/>
          </a:prstGeom>
        </p:spPr>
        <p:txBody>
          <a:bodyPr anchor="ctr"/>
          <a:lstStyle/>
          <a:p>
            <a:pPr algn="ctr"/>
            <a:r>
              <a:rPr lang="en-US" sz="4800" b="1">
                <a:solidFill>
                  <a:schemeClr val="tx1"/>
                </a:solidFill>
              </a:rPr>
              <a:t>Click to edit Master title style</a:t>
            </a:r>
            <a:endParaRPr lang="en-US" sz="4800" b="1" dirty="0">
              <a:solidFill>
                <a:schemeClr val="tx1"/>
              </a:solidFill>
            </a:endParaRPr>
          </a:p>
        </p:txBody>
      </p:sp>
      <p:sp>
        <p:nvSpPr>
          <p:cNvPr id="9" name="Hexagon 8">
            <a:extLst>
              <a:ext uri="{FF2B5EF4-FFF2-40B4-BE49-F238E27FC236}">
                <a16:creationId xmlns:a16="http://schemas.microsoft.com/office/drawing/2014/main" id="{476CA45F-A66A-4AD8-A004-10DB55A5D7B2}"/>
              </a:ext>
            </a:extLst>
          </p:cNvPr>
          <p:cNvSpPr/>
          <p:nvPr userDrawn="1"/>
        </p:nvSpPr>
        <p:spPr>
          <a:xfrm>
            <a:off x="546669" y="3467555"/>
            <a:ext cx="458268" cy="395059"/>
          </a:xfrm>
          <a:prstGeom prst="hexagon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Hexagon 9">
            <a:extLst>
              <a:ext uri="{FF2B5EF4-FFF2-40B4-BE49-F238E27FC236}">
                <a16:creationId xmlns:a16="http://schemas.microsoft.com/office/drawing/2014/main" id="{27A66A3D-2437-4015-9F5F-380C4D23D83C}"/>
              </a:ext>
            </a:extLst>
          </p:cNvPr>
          <p:cNvSpPr/>
          <p:nvPr userDrawn="1"/>
        </p:nvSpPr>
        <p:spPr>
          <a:xfrm>
            <a:off x="11113337" y="2394722"/>
            <a:ext cx="358391" cy="308958"/>
          </a:xfrm>
          <a:prstGeom prst="hexagon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1" name="Hexagon 10">
            <a:extLst>
              <a:ext uri="{FF2B5EF4-FFF2-40B4-BE49-F238E27FC236}">
                <a16:creationId xmlns:a16="http://schemas.microsoft.com/office/drawing/2014/main" id="{FFB14F3B-E7EF-4546-8D74-71FFB45C77C0}"/>
              </a:ext>
            </a:extLst>
          </p:cNvPr>
          <p:cNvSpPr/>
          <p:nvPr userDrawn="1"/>
        </p:nvSpPr>
        <p:spPr>
          <a:xfrm>
            <a:off x="10882649" y="2202202"/>
            <a:ext cx="230688" cy="198869"/>
          </a:xfrm>
          <a:prstGeom prst="hexagon">
            <a:avLst/>
          </a:prstGeom>
          <a:solidFill>
            <a:schemeClr val="bg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3" name="Text Placeholder 22">
            <a:extLst>
              <a:ext uri="{FF2B5EF4-FFF2-40B4-BE49-F238E27FC236}">
                <a16:creationId xmlns:a16="http://schemas.microsoft.com/office/drawing/2014/main" id="{591F943B-ED0D-49A1-844A-E23BA9A4871B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546668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4" name="Text Placeholder 22">
            <a:extLst>
              <a:ext uri="{FF2B5EF4-FFF2-40B4-BE49-F238E27FC236}">
                <a16:creationId xmlns:a16="http://schemas.microsoft.com/office/drawing/2014/main" id="{9AC6B9A8-053C-4828-B705-901C6018F30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556692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7" name="Text Placeholder 22">
            <a:extLst>
              <a:ext uri="{FF2B5EF4-FFF2-40B4-BE49-F238E27FC236}">
                <a16:creationId xmlns:a16="http://schemas.microsoft.com/office/drawing/2014/main" id="{BBA6FD52-E179-41F8-AE78-9AF3D65F28B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2789482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8" name="Text Placeholder 22">
            <a:extLst>
              <a:ext uri="{FF2B5EF4-FFF2-40B4-BE49-F238E27FC236}">
                <a16:creationId xmlns:a16="http://schemas.microsoft.com/office/drawing/2014/main" id="{C49A82AB-D328-4DB0-841B-186884119E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278948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9" name="Text Placeholder 22">
            <a:extLst>
              <a:ext uri="{FF2B5EF4-FFF2-40B4-BE49-F238E27FC236}">
                <a16:creationId xmlns:a16="http://schemas.microsoft.com/office/drawing/2014/main" id="{84E23D5D-9866-48F9-8E08-DD2DBE4C4E32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032296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0" name="Text Placeholder 22">
            <a:extLst>
              <a:ext uri="{FF2B5EF4-FFF2-40B4-BE49-F238E27FC236}">
                <a16:creationId xmlns:a16="http://schemas.microsoft.com/office/drawing/2014/main" id="{E671C9E6-A1A5-4EE5-8642-94AA7635DB0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502920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1" name="Text Placeholder 22">
            <a:extLst>
              <a:ext uri="{FF2B5EF4-FFF2-40B4-BE49-F238E27FC236}">
                <a16:creationId xmlns:a16="http://schemas.microsoft.com/office/drawing/2014/main" id="{DF6BB5C9-B678-435A-830F-4C10EB1A957C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7275110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2" name="Text Placeholder 22">
            <a:extLst>
              <a:ext uri="{FF2B5EF4-FFF2-40B4-BE49-F238E27FC236}">
                <a16:creationId xmlns:a16="http://schemas.microsoft.com/office/drawing/2014/main" id="{1861EC87-A9E2-4FC3-B8BC-06C520B8A17F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7275111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3" name="Text Placeholder 22">
            <a:extLst>
              <a:ext uri="{FF2B5EF4-FFF2-40B4-BE49-F238E27FC236}">
                <a16:creationId xmlns:a16="http://schemas.microsoft.com/office/drawing/2014/main" id="{FC3EDE91-631F-4947-94DC-557685FD23E0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517923" y="4172761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4" name="Text Placeholder 22">
            <a:extLst>
              <a:ext uri="{FF2B5EF4-FFF2-40B4-BE49-F238E27FC236}">
                <a16:creationId xmlns:a16="http://schemas.microsoft.com/office/drawing/2014/main" id="{8FDDBEF4-1329-49DF-B043-D51B34F5EE34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9517923" y="4588259"/>
            <a:ext cx="2139696" cy="344312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37" name="Picture Placeholder 36">
            <a:extLst>
              <a:ext uri="{FF2B5EF4-FFF2-40B4-BE49-F238E27FC236}">
                <a16:creationId xmlns:a16="http://schemas.microsoft.com/office/drawing/2014/main" id="{FBDB3FD3-4F52-4E28-B639-5F73070E47D9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78337" y="2555551"/>
            <a:ext cx="1484985" cy="1280160"/>
          </a:xfrm>
          <a:custGeom>
            <a:avLst/>
            <a:gdLst>
              <a:gd name="connsiteX0" fmla="*/ 320040 w 1484985"/>
              <a:gd name="connsiteY0" fmla="*/ 0 h 1280160"/>
              <a:gd name="connsiteX1" fmla="*/ 1164945 w 1484985"/>
              <a:gd name="connsiteY1" fmla="*/ 0 h 1280160"/>
              <a:gd name="connsiteX2" fmla="*/ 1484985 w 1484985"/>
              <a:gd name="connsiteY2" fmla="*/ 640080 h 1280160"/>
              <a:gd name="connsiteX3" fmla="*/ 1164945 w 1484985"/>
              <a:gd name="connsiteY3" fmla="*/ 1280160 h 1280160"/>
              <a:gd name="connsiteX4" fmla="*/ 320040 w 1484985"/>
              <a:gd name="connsiteY4" fmla="*/ 1280160 h 1280160"/>
              <a:gd name="connsiteX5" fmla="*/ 0 w 1484985"/>
              <a:gd name="connsiteY5" fmla="*/ 640080 h 128016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484985" h="1280160">
                <a:moveTo>
                  <a:pt x="320040" y="0"/>
                </a:moveTo>
                <a:lnTo>
                  <a:pt x="1164945" y="0"/>
                </a:lnTo>
                <a:lnTo>
                  <a:pt x="1484985" y="640080"/>
                </a:lnTo>
                <a:lnTo>
                  <a:pt x="1164945" y="1280160"/>
                </a:lnTo>
                <a:lnTo>
                  <a:pt x="320040" y="1280160"/>
                </a:lnTo>
                <a:lnTo>
                  <a:pt x="0" y="640080"/>
                </a:lnTo>
                <a:close/>
              </a:path>
            </a:pathLst>
          </a:custGeom>
        </p:spPr>
        <p:txBody>
          <a:bodyPr wrap="square" anchor="ctr">
            <a:noAutofit/>
          </a:bodyPr>
          <a:lstStyle>
            <a:lvl1pPr algn="ctr">
              <a:buNone/>
              <a:defRPr/>
            </a:lvl1pPr>
          </a:lstStyle>
          <a:p>
            <a:r>
              <a:rPr lang="en-US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58848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Custom Layout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Picture Placeholder 21">
            <a:extLst>
              <a:ext uri="{FF2B5EF4-FFF2-40B4-BE49-F238E27FC236}">
                <a16:creationId xmlns:a16="http://schemas.microsoft.com/office/drawing/2014/main" id="{DFA57703-9E4A-48E0-A123-3A5EDC76475C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92000" cy="6858000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" name="Rectangle 1" descr="Tall office building looking up">
            <a:extLst>
              <a:ext uri="{FF2B5EF4-FFF2-40B4-BE49-F238E27FC236}">
                <a16:creationId xmlns:a16="http://schemas.microsoft.com/office/drawing/2014/main" id="{AF7FA146-2A75-4EA7-A9AD-EBCE6F17FB42}"/>
              </a:ext>
            </a:extLst>
          </p:cNvPr>
          <p:cNvSpPr/>
          <p:nvPr userDrawn="1"/>
        </p:nvSpPr>
        <p:spPr>
          <a:xfrm>
            <a:off x="3718560" y="1181123"/>
            <a:ext cx="4754880" cy="4495754"/>
          </a:xfrm>
          <a:prstGeom prst="rect">
            <a:avLst/>
          </a:prstGeom>
          <a:solidFill>
            <a:schemeClr val="accent5">
              <a:alpha val="40000"/>
            </a:schemeClr>
          </a:solidFill>
          <a:ln w="6032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4" name="Text Placeholder 23">
            <a:extLst>
              <a:ext uri="{FF2B5EF4-FFF2-40B4-BE49-F238E27FC236}">
                <a16:creationId xmlns:a16="http://schemas.microsoft.com/office/drawing/2014/main" id="{340C15AA-E296-48AE-857F-0589EEA69DC6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4149139" y="4859469"/>
            <a:ext cx="3924934" cy="490538"/>
          </a:xfrm>
          <a:prstGeom prst="rect">
            <a:avLst/>
          </a:prstGeom>
        </p:spPr>
        <p:txBody>
          <a:bodyPr/>
          <a:lstStyle>
            <a:lvl1pPr algn="r">
              <a:buNone/>
              <a:defRPr lang="en-US" sz="2400" b="1" kern="1200" dirty="0" smtClean="0">
                <a:solidFill>
                  <a:schemeClr val="accent4"/>
                </a:solidFill>
                <a:latin typeface="Calibri" panose="020F0502020204030204" pitchFamily="34" charset="0"/>
                <a:ea typeface="+mn-ea"/>
                <a:cs typeface="Calibri" panose="020F0502020204030204" pitchFamily="34" charset="0"/>
              </a:defRPr>
            </a:lvl1pPr>
            <a:lvl2pPr>
              <a:buNone/>
              <a:defRPr/>
            </a:lvl2pPr>
          </a:lstStyle>
          <a:p>
            <a:pPr lvl="0"/>
            <a:r>
              <a:rPr lang="en-US" dirty="0"/>
              <a:t>Click to edit text</a:t>
            </a: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62BE5D7-9E35-49F8-A8E4-2093183A64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9139" y="1529685"/>
            <a:ext cx="3924934" cy="1695637"/>
          </a:xfrm>
          <a:prstGeom prst="rect">
            <a:avLst/>
          </a:prstGeom>
        </p:spPr>
        <p:txBody>
          <a:bodyPr/>
          <a:lstStyle>
            <a:lvl1pPr>
              <a:spcBef>
                <a:spcPts val="1000"/>
              </a:spcBef>
              <a:defRPr sz="4800" b="1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1439956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4" name="Group 43"/>
          <p:cNvGrpSpPr/>
          <p:nvPr/>
        </p:nvGrpSpPr>
        <p:grpSpPr>
          <a:xfrm>
            <a:off x="0" y="-8467"/>
            <a:ext cx="12192000" cy="6866467"/>
            <a:chOff x="0" y="-8467"/>
            <a:chExt cx="12192000" cy="6866467"/>
          </a:xfrm>
        </p:grpSpPr>
        <p:cxnSp>
          <p:nvCxnSpPr>
            <p:cNvPr id="20" name="Straight Connector 19"/>
            <p:cNvCxnSpPr/>
            <p:nvPr/>
          </p:nvCxnSpPr>
          <p:spPr>
            <a:xfrm>
              <a:off x="9371012" y="0"/>
              <a:ext cx="1219200" cy="6858000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Connector 20"/>
            <p:cNvCxnSpPr/>
            <p:nvPr/>
          </p:nvCxnSpPr>
          <p:spPr>
            <a:xfrm flipH="1">
              <a:off x="7425267" y="3681413"/>
              <a:ext cx="4763558" cy="3176587"/>
            </a:xfrm>
            <a:prstGeom prst="line">
              <a:avLst/>
            </a:prstGeom>
            <a:ln w="9525">
              <a:solidFill>
                <a:schemeClr val="accent1">
                  <a:alpha val="70000"/>
                </a:schemeClr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Rectangle 23"/>
            <p:cNvSpPr/>
            <p:nvPr/>
          </p:nvSpPr>
          <p:spPr>
            <a:xfrm>
              <a:off x="9181476" y="-8467"/>
              <a:ext cx="3007349" cy="6866467"/>
            </a:xfrm>
            <a:custGeom>
              <a:avLst/>
              <a:gdLst/>
              <a:ahLst/>
              <a:cxnLst/>
              <a:rect l="l" t="t" r="r" b="b"/>
              <a:pathLst>
                <a:path w="3007349" h="6866467">
                  <a:moveTo>
                    <a:pt x="2045532" y="0"/>
                  </a:moveTo>
                  <a:lnTo>
                    <a:pt x="3007349" y="0"/>
                  </a:lnTo>
                  <a:lnTo>
                    <a:pt x="3007349" y="6866467"/>
                  </a:lnTo>
                  <a:lnTo>
                    <a:pt x="0" y="6866467"/>
                  </a:lnTo>
                  <a:lnTo>
                    <a:pt x="2045532" y="0"/>
                  </a:lnTo>
                  <a:close/>
                </a:path>
              </a:pathLst>
            </a:custGeom>
            <a:solidFill>
              <a:schemeClr val="accent1">
                <a:alpha val="3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3" name="Rectangle 25"/>
            <p:cNvSpPr/>
            <p:nvPr/>
          </p:nvSpPr>
          <p:spPr>
            <a:xfrm>
              <a:off x="9603442" y="-8467"/>
              <a:ext cx="2588558" cy="6866467"/>
            </a:xfrm>
            <a:custGeom>
              <a:avLst/>
              <a:gdLst/>
              <a:ahLst/>
              <a:cxnLst/>
              <a:rect l="l" t="t" r="r" b="b"/>
              <a:pathLst>
                <a:path w="2573311" h="6866467">
                  <a:moveTo>
                    <a:pt x="0" y="0"/>
                  </a:moveTo>
                  <a:lnTo>
                    <a:pt x="2573311" y="0"/>
                  </a:lnTo>
                  <a:lnTo>
                    <a:pt x="2573311" y="6866467"/>
                  </a:lnTo>
                  <a:lnTo>
                    <a:pt x="1202336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alpha val="2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4" name="Isosceles Triangle 23"/>
            <p:cNvSpPr/>
            <p:nvPr/>
          </p:nvSpPr>
          <p:spPr>
            <a:xfrm>
              <a:off x="8932333" y="3048000"/>
              <a:ext cx="3259667" cy="3810000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5" name="Rectangle 27"/>
            <p:cNvSpPr/>
            <p:nvPr/>
          </p:nvSpPr>
          <p:spPr>
            <a:xfrm>
              <a:off x="9334500" y="-8467"/>
              <a:ext cx="2854326" cy="6866467"/>
            </a:xfrm>
            <a:custGeom>
              <a:avLst/>
              <a:gdLst/>
              <a:ahLst/>
              <a:cxnLst/>
              <a:rect l="l" t="t" r="r" b="b"/>
              <a:pathLst>
                <a:path w="2858013" h="6866467">
                  <a:moveTo>
                    <a:pt x="0" y="0"/>
                  </a:moveTo>
                  <a:lnTo>
                    <a:pt x="2858013" y="0"/>
                  </a:lnTo>
                  <a:lnTo>
                    <a:pt x="2858013" y="6866467"/>
                  </a:lnTo>
                  <a:lnTo>
                    <a:pt x="2473942" y="6866467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>
                <a:lumMod val="75000"/>
                <a:alpha val="5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6" name="Rectangle 28"/>
            <p:cNvSpPr/>
            <p:nvPr/>
          </p:nvSpPr>
          <p:spPr>
            <a:xfrm>
              <a:off x="10898730" y="-8467"/>
              <a:ext cx="1290094" cy="6866467"/>
            </a:xfrm>
            <a:custGeom>
              <a:avLst/>
              <a:gdLst/>
              <a:ahLst/>
              <a:cxnLst/>
              <a:rect l="l" t="t" r="r" b="b"/>
              <a:pathLst>
                <a:path w="1290094" h="6858000">
                  <a:moveTo>
                    <a:pt x="1019735" y="0"/>
                  </a:moveTo>
                  <a:lnTo>
                    <a:pt x="1290094" y="0"/>
                  </a:lnTo>
                  <a:lnTo>
                    <a:pt x="1290094" y="6858000"/>
                  </a:lnTo>
                  <a:lnTo>
                    <a:pt x="0" y="6858000"/>
                  </a:lnTo>
                  <a:lnTo>
                    <a:pt x="1019735" y="0"/>
                  </a:lnTo>
                  <a:close/>
                </a:path>
              </a:pathLst>
            </a:custGeom>
            <a:solidFill>
              <a:schemeClr val="accent2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7" name="Rectangle 29"/>
            <p:cNvSpPr/>
            <p:nvPr/>
          </p:nvSpPr>
          <p:spPr>
            <a:xfrm>
              <a:off x="10938999" y="-8467"/>
              <a:ext cx="1249825" cy="6866467"/>
            </a:xfrm>
            <a:custGeom>
              <a:avLst/>
              <a:gdLst/>
              <a:ahLst/>
              <a:cxnLst/>
              <a:rect l="l" t="t" r="r" b="b"/>
              <a:pathLst>
                <a:path w="1249825" h="6858000">
                  <a:moveTo>
                    <a:pt x="0" y="0"/>
                  </a:moveTo>
                  <a:lnTo>
                    <a:pt x="1249825" y="0"/>
                  </a:lnTo>
                  <a:lnTo>
                    <a:pt x="1249825" y="6858000"/>
                  </a:lnTo>
                  <a:lnTo>
                    <a:pt x="1109382" y="685800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>
                <a:lumMod val="75000"/>
                <a:alpha val="8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28" name="Isosceles Triangle 27"/>
            <p:cNvSpPr/>
            <p:nvPr/>
          </p:nvSpPr>
          <p:spPr>
            <a:xfrm>
              <a:off x="10371666" y="3589867"/>
              <a:ext cx="1817159" cy="3268133"/>
            </a:xfrm>
            <a:prstGeom prst="triangle">
              <a:avLst>
                <a:gd name="adj" fmla="val 100000"/>
              </a:avLst>
            </a:prstGeom>
            <a:solidFill>
              <a:schemeClr val="accent1">
                <a:lumMod val="75000"/>
                <a:alpha val="66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  <p:sp>
          <p:nvSpPr>
            <p:cNvPr id="19" name="Isosceles Triangle 18"/>
            <p:cNvSpPr/>
            <p:nvPr/>
          </p:nvSpPr>
          <p:spPr>
            <a:xfrm>
              <a:off x="0" y="4013200"/>
              <a:ext cx="448733" cy="2844800"/>
            </a:xfrm>
            <a:prstGeom prst="triangle">
              <a:avLst>
                <a:gd name="adj" fmla="val 0"/>
              </a:avLst>
            </a:prstGeom>
            <a:solidFill>
              <a:schemeClr val="accent1">
                <a:alpha val="70000"/>
              </a:schemeClr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</p: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77334" y="609600"/>
            <a:ext cx="8596668" cy="13208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7334" y="2160589"/>
            <a:ext cx="8596668" cy="38807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205133" y="6041362"/>
            <a:ext cx="9119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1BEF0D-F0BB-DE4B-95CE-6DB70DBA9567}" type="datetimeFigureOut">
              <a:rPr lang="en-US" smtClean="0"/>
              <a:pPr/>
              <a:t>9/9/2026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77334" y="6041362"/>
            <a:ext cx="629761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90663" y="6041362"/>
            <a:ext cx="68333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accent1"/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8" name="Date Placeholder 3">
            <a:extLst>
              <a:ext uri="{FF2B5EF4-FFF2-40B4-BE49-F238E27FC236}">
                <a16:creationId xmlns:a16="http://schemas.microsoft.com/office/drawing/2014/main" id="{2CD6B789-4B66-4BD0-9623-80E9542A65FE}"/>
              </a:ext>
            </a:extLst>
          </p:cNvPr>
          <p:cNvSpPr txBox="1">
            <a:spLocks/>
          </p:cNvSpPr>
          <p:nvPr userDrawn="1"/>
        </p:nvSpPr>
        <p:spPr>
          <a:xfrm>
            <a:off x="660396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57BD5F78-1C10-49D6-8616-C9F20406C112}" type="datetime1">
              <a:rPr lang="en-US" sz="1100" smtClean="0">
                <a:solidFill>
                  <a:schemeClr val="accent2"/>
                </a:solidFill>
              </a:rPr>
              <a:pPr/>
              <a:t>9/9/2026</a:t>
            </a:fld>
            <a:endParaRPr lang="en-US" sz="1100" dirty="0">
              <a:solidFill>
                <a:schemeClr val="accent2"/>
              </a:solidFill>
            </a:endParaRPr>
          </a:p>
        </p:txBody>
      </p:sp>
      <p:sp>
        <p:nvSpPr>
          <p:cNvPr id="29" name="Footer Placeholder 4">
            <a:extLst>
              <a:ext uri="{FF2B5EF4-FFF2-40B4-BE49-F238E27FC236}">
                <a16:creationId xmlns:a16="http://schemas.microsoft.com/office/drawing/2014/main" id="{A3BB5234-44A4-4506-BD19-5808475EBB7F}"/>
              </a:ext>
            </a:extLst>
          </p:cNvPr>
          <p:cNvSpPr txBox="1">
            <a:spLocks/>
          </p:cNvSpPr>
          <p:nvPr userDrawn="1"/>
        </p:nvSpPr>
        <p:spPr>
          <a:xfrm>
            <a:off x="1445526" y="6378906"/>
            <a:ext cx="41148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sz="1100" b="1" dirty="0">
                <a:solidFill>
                  <a:schemeClr val="accent2"/>
                </a:solidFill>
              </a:rPr>
              <a:t>Annual Review</a:t>
            </a:r>
          </a:p>
        </p:txBody>
      </p:sp>
      <p:sp>
        <p:nvSpPr>
          <p:cNvPr id="30" name="Slide Number Placeholder 5">
            <a:extLst>
              <a:ext uri="{FF2B5EF4-FFF2-40B4-BE49-F238E27FC236}">
                <a16:creationId xmlns:a16="http://schemas.microsoft.com/office/drawing/2014/main" id="{68D89618-7EE9-46BF-BEAC-45E6F98ACA1A}"/>
              </a:ext>
            </a:extLst>
          </p:cNvPr>
          <p:cNvSpPr txBox="1">
            <a:spLocks/>
          </p:cNvSpPr>
          <p:nvPr userDrawn="1"/>
        </p:nvSpPr>
        <p:spPr>
          <a:xfrm>
            <a:off x="8805338" y="6378906"/>
            <a:ext cx="2743200" cy="365125"/>
          </a:xfrm>
          <a:prstGeom prst="rect">
            <a:avLst/>
          </a:prstGeom>
        </p:spPr>
        <p:txBody>
          <a:bodyPr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2C18C1E5-FB55-42F5-BD6D-9CC153FCDBE6}" type="slidenum">
              <a:rPr lang="en-US" sz="1100" smtClean="0">
                <a:solidFill>
                  <a:schemeClr val="accent4"/>
                </a:solidFill>
              </a:rPr>
              <a:pPr algn="r"/>
              <a:t>‹#›</a:t>
            </a:fld>
            <a:endParaRPr lang="en-US" sz="1100" dirty="0">
              <a:solidFill>
                <a:schemeClr val="accent4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0642590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48" r:id="rId1"/>
    <p:sldLayoutId id="2147483749" r:id="rId2"/>
    <p:sldLayoutId id="2147483750" r:id="rId3"/>
    <p:sldLayoutId id="2147483751" r:id="rId4"/>
    <p:sldLayoutId id="2147483752" r:id="rId5"/>
    <p:sldLayoutId id="2147483753" r:id="rId6"/>
    <p:sldLayoutId id="2147483754" r:id="rId7"/>
    <p:sldLayoutId id="2147483755" r:id="rId8"/>
    <p:sldLayoutId id="2147483756" r:id="rId9"/>
    <p:sldLayoutId id="2147483757" r:id="rId10"/>
    <p:sldLayoutId id="2147483758" r:id="rId11"/>
    <p:sldLayoutId id="2147483759" r:id="rId12"/>
    <p:sldLayoutId id="2147483760" r:id="rId13"/>
    <p:sldLayoutId id="2147483761" r:id="rId14"/>
    <p:sldLayoutId id="2147483762" r:id="rId15"/>
    <p:sldLayoutId id="2147483763" r:id="rId16"/>
    <p:sldLayoutId id="2147483764" r:id="rId17"/>
    <p:sldLayoutId id="2147483765" r:id="rId18"/>
    <p:sldLayoutId id="2147483766" r:id="rId19"/>
    <p:sldLayoutId id="2147483769" r:id="rId20"/>
    <p:sldLayoutId id="2147483690" r:id="rId21"/>
  </p:sldLayoutIdLst>
  <p:hf hdr="0" ftr="0" dt="0"/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accent1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SzPct val="80000"/>
        <a:buFont typeface="Wingdings 3" charset="2"/>
        <a:buChar char="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9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fif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9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9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8.xml"/><Relationship Id="rId4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ygurubetti/Seasonal-Agriculture-Performance-Analysis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19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hyperlink" Target="mailto:ygurubetti@gmail.com" TargetMode="External"/><Relationship Id="rId2" Type="http://schemas.openxmlformats.org/officeDocument/2006/relationships/image" Target="../media/image1.jfif"/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2056599-CDAA-4367-BEF8-31D6E3251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8364" y="2844750"/>
            <a:ext cx="4998720" cy="743448"/>
          </a:xfrm>
        </p:spPr>
        <p:txBody>
          <a:bodyPr>
            <a:normAutofit/>
          </a:bodyPr>
          <a:lstStyle/>
          <a:p>
            <a:r>
              <a:rPr lang="en-GB" sz="3200" dirty="0"/>
              <a:t>Project Title -</a:t>
            </a:r>
            <a:endParaRPr lang="en-IN" sz="3200" dirty="0"/>
          </a:p>
        </p:txBody>
      </p:sp>
      <p:sp>
        <p:nvSpPr>
          <p:cNvPr id="15" name="Text Placeholder 1">
            <a:extLst>
              <a:ext uri="{FF2B5EF4-FFF2-40B4-BE49-F238E27FC236}">
                <a16:creationId xmlns:a16="http://schemas.microsoft.com/office/drawing/2014/main" id="{824B8A32-9AB3-457E-82E1-C85D3203CE35}"/>
              </a:ext>
            </a:extLst>
          </p:cNvPr>
          <p:cNvSpPr txBox="1">
            <a:spLocks/>
          </p:cNvSpPr>
          <p:nvPr/>
        </p:nvSpPr>
        <p:spPr>
          <a:xfrm>
            <a:off x="6400800" y="2794001"/>
            <a:ext cx="3312160" cy="86149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b="1" kern="120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sz="20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4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30DEFF0-8DEE-4B0B-9B30-675FE9E288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17F04107-8754-E47D-3375-529E689711FA}"/>
              </a:ext>
            </a:extLst>
          </p:cNvPr>
          <p:cNvSpPr txBox="1"/>
          <p:nvPr/>
        </p:nvSpPr>
        <p:spPr>
          <a:xfrm>
            <a:off x="708659" y="4938797"/>
            <a:ext cx="317636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/>
              <a:t>AICTE STU ID :</a:t>
            </a:r>
            <a:endParaRPr lang="en-US" b="1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87AED06-5550-AA22-A379-C519573A5D16}"/>
              </a:ext>
            </a:extLst>
          </p:cNvPr>
          <p:cNvSpPr txBox="1"/>
          <p:nvPr/>
        </p:nvSpPr>
        <p:spPr>
          <a:xfrm>
            <a:off x="3408418" y="2958017"/>
            <a:ext cx="627255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IN" sz="2400" b="1" dirty="0"/>
              <a:t>Seasonal Agriculture Performance Analysis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17DDA79-ABAB-1AD1-2FD5-555CD3EBBFE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708659" y="3613493"/>
            <a:ext cx="4220845" cy="861497"/>
          </a:xfrm>
        </p:spPr>
        <p:txBody>
          <a:bodyPr>
            <a:normAutofit fontScale="25000" lnSpcReduction="20000"/>
          </a:bodyPr>
          <a:lstStyle/>
          <a:p>
            <a:r>
              <a:rPr lang="en-IN" sz="8000" dirty="0">
                <a:solidFill>
                  <a:schemeClr val="tx1"/>
                </a:solidFill>
              </a:rPr>
              <a:t>Student Name – Yogesh B </a:t>
            </a:r>
            <a:r>
              <a:rPr lang="en-IN" sz="8000" dirty="0" err="1">
                <a:solidFill>
                  <a:schemeClr val="tx1"/>
                </a:solidFill>
              </a:rPr>
              <a:t>Gurubetti</a:t>
            </a:r>
            <a:endParaRPr lang="en-IN" sz="8000" dirty="0">
              <a:solidFill>
                <a:schemeClr val="tx1"/>
              </a:solidFill>
            </a:endParaRPr>
          </a:p>
          <a:p>
            <a:r>
              <a:rPr lang="en-IN" sz="8000" dirty="0">
                <a:solidFill>
                  <a:schemeClr val="tx1"/>
                </a:solidFill>
              </a:rPr>
              <a:t>College Name – KLE Technological </a:t>
            </a:r>
            <a:r>
              <a:rPr lang="en-IN" sz="8000" dirty="0" err="1">
                <a:solidFill>
                  <a:schemeClr val="tx1"/>
                </a:solidFill>
              </a:rPr>
              <a:t>Universty</a:t>
            </a:r>
            <a:endParaRPr lang="en-IN" sz="8000" dirty="0">
              <a:solidFill>
                <a:schemeClr val="tx1"/>
              </a:solidFill>
            </a:endParaRPr>
          </a:p>
          <a:p>
            <a:endParaRPr lang="en-IN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C21FC12-B2E1-C4EB-8FA3-A29FE681053E}"/>
              </a:ext>
            </a:extLst>
          </p:cNvPr>
          <p:cNvSpPr txBox="1"/>
          <p:nvPr/>
        </p:nvSpPr>
        <p:spPr>
          <a:xfrm>
            <a:off x="2296840" y="4951463"/>
            <a:ext cx="6103620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1800" b="1" i="0" dirty="0">
                <a:solidFill>
                  <a:schemeClr val="tx1"/>
                </a:solidFill>
                <a:effectLst/>
                <a:latin typeface="+mn-lt"/>
              </a:rPr>
              <a:t>STU6a69d1a6114901785319846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040134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8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8" dur="1822" tmFilter="0,0; 0.14,0.36; 0.43,0.73; 0.71,0.91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-0.25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9" dur="664" tmFilter="0.0,0.0; 0.25,0.07; 0.50,0.2; 0.75,0.467; 1.0,1.0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3">
                                          <p:val>
                                            <p:fltVal val="0.5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0" dur="664" tmFilter="0, 0; 0.125,0.2665; 0.25,0.4; 0.375,0.465; 0.5,0.5;  0.625,0.535; 0.75,0.6; 0.875,0.7335; 1,1">
                                          <p:stCondLst>
                                            <p:cond delay="66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9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1" dur="332" tmFilter="0, 0; 0.125,0.2665; 0.25,0.4; 0.375,0.465; 0.5,0.5;  0.625,0.535; 0.75,0.6; 0.875,0.7335; 1,1">
                                          <p:stCondLst>
                                            <p:cond delay="132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27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164" tmFilter="0, 0; 0.125,0.2665; 0.25,0.4; 0.375,0.465; 0.5,0.5;  0.625,0.535; 0.75,0.6; 0.875,0.7335; 1,1">
                                          <p:stCondLst>
                                            <p:cond delay="165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 fmla="#ppt_y-sin(pi*$)/81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fltVal val="1"/>
                                          </p:val>
                                        </p:tav>
                                      </p:tavLst>
                                    </p:anim>
                                    <p:animScale>
                                      <p:cBhvr>
                                        <p:cTn id="13" dur="26">
                                          <p:stCondLst>
                                            <p:cond delay="65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60000"/>
                                    </p:animScale>
                                    <p:animScale>
                                      <p:cBhvr>
                                        <p:cTn id="14" dur="166" decel="50000">
                                          <p:stCondLst>
                                            <p:cond delay="676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5" dur="26">
                                          <p:stCondLst>
                                            <p:cond delay="131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80000"/>
                                    </p:animScale>
                                    <p:animScale>
                                      <p:cBhvr>
                                        <p:cTn id="16" dur="166" decel="50000">
                                          <p:stCondLst>
                                            <p:cond delay="133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7" dur="26">
                                          <p:stCondLst>
                                            <p:cond delay="1642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0000"/>
                                    </p:animScale>
                                    <p:animScale>
                                      <p:cBhvr>
                                        <p:cTn id="18" dur="166" decel="50000">
                                          <p:stCondLst>
                                            <p:cond delay="166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  <p:animScale>
                                      <p:cBhvr>
                                        <p:cTn id="19" dur="26">
                                          <p:stCondLst>
                                            <p:cond delay="1808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95000"/>
                                    </p:animScale>
                                    <p:animScale>
                                      <p:cBhvr>
                                        <p:cTn id="20" dur="166" decel="50000">
                                          <p:stCondLst>
                                            <p:cond delay="1834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</p:cBhvr>
                                      <p:to x="100000" y="100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53" presetClass="entr" presetSubtype="16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3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5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6" dur="50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15" grpId="0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E46E4DD1-270B-4C80-AFF0-EB26F132AF36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6480" y="1875556"/>
            <a:ext cx="6431280" cy="3607987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lvl="0"/>
            <a:r>
              <a:rPr lang="en-IN" sz="8000" b="1" dirty="0"/>
              <a:t>Core Issue:</a:t>
            </a:r>
            <a:r>
              <a:rPr lang="en-IN" sz="8000" dirty="0"/>
              <a:t> </a:t>
            </a:r>
            <a:r>
              <a:rPr lang="en-IN" sz="7200" dirty="0"/>
              <a:t>Agricultural performance is heavily influenced by cyclical shifts in weather conditions, resource availability, farming practices, and market dynamics.</a:t>
            </a:r>
          </a:p>
          <a:p>
            <a:pPr lvl="0"/>
            <a:r>
              <a:rPr lang="en-IN" sz="8000" b="1" dirty="0"/>
              <a:t>The Analytical Gap:</a:t>
            </a:r>
            <a:r>
              <a:rPr lang="en-IN" sz="8000" dirty="0"/>
              <a:t> </a:t>
            </a:r>
            <a:r>
              <a:rPr lang="en-IN" sz="7200" dirty="0"/>
              <a:t>Raw agricultural datasets do not intuitively explain how and why farm performance fluctuates across cropping seasons, leaving critical relationships between environmental inputs and economic viability obscured.</a:t>
            </a:r>
          </a:p>
          <a:p>
            <a:pPr lvl="0"/>
            <a:r>
              <a:rPr lang="en-IN" sz="8000" b="1" dirty="0"/>
              <a:t>Objective:</a:t>
            </a:r>
            <a:r>
              <a:rPr lang="en-IN" sz="8000" dirty="0"/>
              <a:t> </a:t>
            </a:r>
            <a:r>
              <a:rPr lang="en-IN" sz="7200" dirty="0"/>
              <a:t>To conduct a rigorous data analytics investigation into a multi-season agricultural dataset (4,000 farms across India) to uncover underlying patterns, test seasonal performance differences statistically, evaluate resource efficiencies, and provide data-driven agricultural planning strategies.</a:t>
            </a:r>
          </a:p>
          <a:p>
            <a:pPr>
              <a:lnSpc>
                <a:spcPct val="150000"/>
              </a:lnSpc>
            </a:pPr>
            <a:endParaRPr lang="en-IN" sz="28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77CC02B-F7C6-47A8-8C3E-C57C417D9E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54602" y="550417"/>
            <a:ext cx="6995604" cy="790111"/>
          </a:xfrm>
        </p:spPr>
        <p:txBody>
          <a:bodyPr>
            <a:normAutofit fontScale="90000"/>
          </a:bodyPr>
          <a:lstStyle/>
          <a:p>
            <a:r>
              <a:rPr lang="en-US" dirty="0"/>
              <a:t>PROBLEM  STATEMENT</a:t>
            </a:r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8FE02DE-D7B2-433D-BFE4-2F564022AD8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95684" y="2930834"/>
            <a:ext cx="2760758" cy="3264409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736DEFE3-051A-494A-949C-BB2FF86F9ED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85484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EBF2FBC7-3552-4F01-BB27-8BEEE74F7277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675957" y="633763"/>
                <a:ext cx="6276109" cy="830997"/>
              </a:xfrm>
            </p:spPr>
            <p:txBody>
              <a:bodyPr>
                <a:normAutofit fontScale="90000"/>
              </a:bodyPr>
              <a:lstStyle/>
              <a:p>
                <a:pPr lvl="0"/>
                <a:r>
                  <a:rPr lang="en-GB" dirty="0"/>
                  <a:t>Project Description</a:t>
                </a:r>
                <a:br>
                  <a:rPr lang="en-GB" dirty="0"/>
                </a:br>
                <a:br>
                  <a:rPr lang="en-GB" b="0" dirty="0"/>
                </a:br>
                <a:r>
                  <a:rPr lang="en-IN" sz="2200" dirty="0"/>
                  <a:t>Scope &amp; Data: </a:t>
                </a:r>
                <a:r>
                  <a:rPr lang="en-IN" sz="2000" b="0" dirty="0"/>
                  <a:t>Evaluated 4,000 farm records across 8 Indian states, </a:t>
                </a:r>
                <a:r>
                  <a:rPr lang="en-IN" sz="2000" b="0" dirty="0" err="1"/>
                  <a:t>analyzing</a:t>
                </a:r>
                <a:r>
                  <a:rPr lang="en-IN" sz="2000" b="0" dirty="0"/>
                  <a:t> 8 crop varieties over Kharif, Rabi, and Zaid seasons. </a:t>
                </a:r>
                <a:br>
                  <a:rPr lang="en-IN" sz="2000" b="0" dirty="0"/>
                </a:br>
                <a:r>
                  <a:rPr lang="en-IN" sz="2200" dirty="0"/>
                  <a:t>Cleaning &amp; Feature Engineering: </a:t>
                </a:r>
                <a:r>
                  <a:rPr lang="en-IN" sz="2000" b="0" dirty="0"/>
                  <a:t>Imputed missing values using season- and crop-specific medians, and engineered per-hectare economic indicators to eliminate farm-size bias. </a:t>
                </a:r>
                <a:br>
                  <a:rPr lang="en-IN" sz="2000" b="0" dirty="0"/>
                </a:br>
                <a:r>
                  <a:rPr lang="en-IN" sz="2200" dirty="0"/>
                  <a:t>Statistical &amp; Exploratory Analysis</a:t>
                </a:r>
                <a:r>
                  <a:rPr lang="en-IN" sz="2000" b="0" dirty="0"/>
                  <a:t>: Conducted comparative visualizations, correlation </a:t>
                </a:r>
                <a:r>
                  <a:rPr lang="en-IN" sz="2000" b="0" dirty="0" err="1"/>
                  <a:t>modeling</a:t>
                </a:r>
                <a:r>
                  <a:rPr lang="en-IN" sz="2000" b="0" dirty="0"/>
                  <a:t>, and Kruskal-Wallis hypothesis tests (</a:t>
                </a:r>
                <a14:m>
                  <m:oMath xmlns:m="http://schemas.openxmlformats.org/officeDocument/2006/math">
                    <m:r>
                      <a:rPr lang="en-IN" sz="2000" b="0" i="1"/>
                      <m:t>𝑝</m:t>
                    </m:r>
                    <m:r>
                      <a:rPr lang="en-IN" sz="2000" b="0"/>
                      <m:t>&lt;0.001</m:t>
                    </m:r>
                  </m:oMath>
                </a14:m>
                <a:r>
                  <a:rPr lang="en-IN" sz="2000" b="0" dirty="0"/>
                  <a:t>) across yield, water efficiency, and pest risks. </a:t>
                </a:r>
                <a:br>
                  <a:rPr lang="en-IN" sz="2000" b="0" dirty="0"/>
                </a:br>
                <a:r>
                  <a:rPr lang="en-IN" sz="2200" dirty="0"/>
                  <a:t>Actionable Insights: </a:t>
                </a:r>
                <a:r>
                  <a:rPr lang="en-IN" sz="2000" b="0" dirty="0"/>
                  <a:t>Derived evidence-based planning recommendations for seasonal crop selection, micro-irrigation adoption, and input optimization. </a:t>
                </a:r>
                <a:br>
                  <a:rPr lang="en-IN" sz="2000" dirty="0"/>
                </a:br>
                <a:endParaRPr lang="en-IN" sz="2000" dirty="0"/>
              </a:p>
            </p:txBody>
          </p:sp>
        </mc:Choice>
        <mc:Fallback>
          <p:sp>
            <p:nvSpPr>
              <p:cNvPr id="3" name="Title 2">
                <a:extLst>
                  <a:ext uri="{FF2B5EF4-FFF2-40B4-BE49-F238E27FC236}">
                    <a16:creationId xmlns:a16="http://schemas.microsoft.com/office/drawing/2014/main" id="{EBF2FBC7-3552-4F01-BB27-8BEEE74F727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675957" y="633763"/>
                <a:ext cx="6276109" cy="830997"/>
              </a:xfrm>
              <a:blipFill>
                <a:blip r:embed="rId2"/>
                <a:stretch>
                  <a:fillRect l="-3887" t="-14706" b="-558088"/>
                </a:stretch>
              </a:blipFill>
            </p:spPr>
            <p:txBody>
              <a:bodyPr/>
              <a:lstStyle/>
              <a:p>
                <a:r>
                  <a:rPr lang="en-IN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>
            <a:extLst>
              <a:ext uri="{FF2B5EF4-FFF2-40B4-BE49-F238E27FC236}">
                <a16:creationId xmlns:a16="http://schemas.microsoft.com/office/drawing/2014/main" id="{09D8A2BA-6C1D-4A33-85F2-E44A4FF54A1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BED3D6A-DC10-4985-B01B-735F2CBA6E47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677030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664E3B60-2780-459A-8583-F095D5E7463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1359" y="1991360"/>
            <a:ext cx="7904481" cy="3990023"/>
          </a:xfrm>
        </p:spPr>
        <p:txBody>
          <a:bodyPr>
            <a:normAutofit/>
          </a:bodyPr>
          <a:lstStyle/>
          <a:p>
            <a:pPr lvl="0"/>
            <a:r>
              <a:rPr lang="en-IN" dirty="0"/>
              <a:t>Agricultural Policymakers &amp; Government Bodies:</a:t>
            </a:r>
          </a:p>
          <a:p>
            <a:pPr lvl="1"/>
            <a:r>
              <a:rPr lang="en-IN" dirty="0"/>
              <a:t>Design targeted seasonal subsidies, set fair minimum support pricing, and guide district-level crop rotation mandates.</a:t>
            </a:r>
          </a:p>
          <a:p>
            <a:pPr lvl="0"/>
            <a:r>
              <a:rPr lang="en-IN" dirty="0"/>
              <a:t>Farmers &amp; Agronomists:</a:t>
            </a:r>
          </a:p>
          <a:p>
            <a:pPr lvl="1"/>
            <a:r>
              <a:rPr lang="en-IN" dirty="0"/>
              <a:t>Select season-appropriate crop portfolios and determine optimal irrigation practices to maximize per-hectare profit.</a:t>
            </a:r>
          </a:p>
          <a:p>
            <a:pPr lvl="0"/>
            <a:r>
              <a:rPr lang="en-IN" dirty="0"/>
              <a:t>Agricultural Lending &amp; Insurance Providers:</a:t>
            </a:r>
          </a:p>
          <a:p>
            <a:pPr lvl="1"/>
            <a:r>
              <a:rPr lang="en-IN" dirty="0"/>
              <a:t>Evaluate seasonal default risk, price crop insurance premiums accurately, and underwrite farm credit based on empirical success rates.</a:t>
            </a:r>
          </a:p>
          <a:p>
            <a:pPr algn="just">
              <a:lnSpc>
                <a:spcPct val="150000"/>
              </a:lnSpc>
            </a:pPr>
            <a:endParaRPr lang="en-IN" sz="3600" dirty="0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A4A072B-83C6-4607-AE6A-5AD61CC72C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0008" y="876617"/>
            <a:ext cx="10046070" cy="802641"/>
          </a:xfrm>
        </p:spPr>
        <p:txBody>
          <a:bodyPr>
            <a:normAutofit/>
          </a:bodyPr>
          <a:lstStyle/>
          <a:p>
            <a:r>
              <a:rPr lang="en-US" sz="3200" dirty="0"/>
              <a:t>WHO ARE THE END USERS?</a:t>
            </a:r>
            <a:endParaRPr lang="en-IN" sz="200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E8B153BB-61B9-403F-8AE5-F75400450AC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1359" y="6176804"/>
            <a:ext cx="2181225" cy="485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07500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1000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0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1" dur="1000" fill="hold"/>
                                        <p:tgtEl>
                                          <p:spTgt spid="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1000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7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8" dur="1000" fill="hold"/>
                                        <p:tgtEl>
                                          <p:spTgt spid="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1000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2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3" dur="1000" fill="hold"/>
                                        <p:tgtEl>
                                          <p:spTgt spid="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1000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9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0" dur="1000" fill="hold"/>
                                        <p:tgtEl>
                                          <p:spTgt spid="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42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3" dur="1000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5" dur="1000" fill="hold"/>
                                        <p:tgtEl>
                                          <p:spTgt spid="2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build="p"/>
      <p:bldP spid="4" grpId="0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>
            <a:lumMod val="9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B7C27C4-3E14-490A-B132-CBBEDA1E905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6410461"/>
            <a:ext cx="3706253" cy="296092"/>
          </a:xfrm>
          <a:prstGeom prst="rect">
            <a:avLst/>
          </a:prstGeom>
        </p:spPr>
      </p:pic>
      <p:pic>
        <p:nvPicPr>
          <p:cNvPr id="2" name="Picture 1">
            <a:extLst>
              <a:ext uri="{FF2B5EF4-FFF2-40B4-BE49-F238E27FC236}">
                <a16:creationId xmlns:a16="http://schemas.microsoft.com/office/drawing/2014/main" id="{F1FC3E39-8C60-4F64-9838-2A683F25B8C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flipH="1">
            <a:off x="50800" y="3820160"/>
            <a:ext cx="1727200" cy="3010024"/>
          </a:xfrm>
          <a:prstGeom prst="rect">
            <a:avLst/>
          </a:prstGeom>
        </p:spPr>
      </p:pic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B21C28F5-3CA3-4B78-B5C9-550C00BB317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33593" y="1463105"/>
            <a:ext cx="9027702" cy="5243448"/>
          </a:xfrm>
        </p:spPr>
        <p:txBody>
          <a:bodyPr/>
          <a:lstStyle/>
          <a:p>
            <a:pPr lvl="0"/>
            <a:r>
              <a:rPr lang="en-IN" b="1" dirty="0"/>
              <a:t>Core Programming Language:</a:t>
            </a:r>
            <a:r>
              <a:rPr lang="en-IN" dirty="0"/>
              <a:t> </a:t>
            </a:r>
            <a:r>
              <a:rPr lang="en-IN" sz="1800" dirty="0"/>
              <a:t>Python 3.10+</a:t>
            </a:r>
          </a:p>
          <a:p>
            <a:pPr lvl="0"/>
            <a:r>
              <a:rPr lang="en-IN" b="1" dirty="0"/>
              <a:t>Data Ingestion &amp; Wrangling:</a:t>
            </a:r>
            <a:r>
              <a:rPr lang="en-IN" dirty="0"/>
              <a:t> </a:t>
            </a:r>
            <a:r>
              <a:rPr lang="en-IN" sz="1800" dirty="0"/>
              <a:t>Pandas, NumPy</a:t>
            </a:r>
            <a:endParaRPr lang="en-IN" dirty="0"/>
          </a:p>
          <a:p>
            <a:pPr lvl="0"/>
            <a:r>
              <a:rPr lang="en-IN" b="1" dirty="0"/>
              <a:t>Scientific &amp; Inferential Statistics:</a:t>
            </a:r>
            <a:r>
              <a:rPr lang="en-IN" dirty="0"/>
              <a:t> </a:t>
            </a:r>
            <a:r>
              <a:rPr lang="en-IN" sz="1800" dirty="0"/>
              <a:t>SciPy (</a:t>
            </a:r>
            <a:r>
              <a:rPr lang="en-IN" sz="1800" dirty="0" err="1"/>
              <a:t>scipy.stats</a:t>
            </a:r>
            <a:r>
              <a:rPr lang="en-IN" sz="1800" dirty="0"/>
              <a:t> for Kruskal-Wallis H-test, Shapiro-Wilk)</a:t>
            </a:r>
            <a:endParaRPr lang="en-IN" dirty="0"/>
          </a:p>
          <a:p>
            <a:pPr lvl="0"/>
            <a:r>
              <a:rPr lang="en-IN" b="1" dirty="0"/>
              <a:t>Data Visualization &amp; Analytics Plots:</a:t>
            </a:r>
            <a:r>
              <a:rPr lang="en-IN" dirty="0"/>
              <a:t> Matplotlib, </a:t>
            </a:r>
            <a:r>
              <a:rPr lang="en-IN" sz="1800" dirty="0"/>
              <a:t>Seaborn</a:t>
            </a:r>
          </a:p>
          <a:p>
            <a:pPr lvl="0"/>
            <a:r>
              <a:rPr lang="en-IN" b="1" dirty="0"/>
              <a:t>Interactive Development Environment:</a:t>
            </a:r>
            <a:r>
              <a:rPr lang="en-IN" dirty="0"/>
              <a:t> </a:t>
            </a:r>
            <a:r>
              <a:rPr lang="en-IN" sz="1800" dirty="0"/>
              <a:t>Jupyter Notebook / </a:t>
            </a:r>
            <a:r>
              <a:rPr lang="en-IN" sz="1800" dirty="0" err="1"/>
              <a:t>JupyterLab</a:t>
            </a:r>
            <a:endParaRPr lang="en-IN" dirty="0"/>
          </a:p>
          <a:p>
            <a:pPr lvl="1">
              <a:lnSpc>
                <a:spcPct val="150000"/>
              </a:lnSpc>
            </a:pPr>
            <a:endParaRPr lang="en-IN" dirty="0"/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EF304F5-32C5-4869-B185-859B56785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60399" y="430567"/>
            <a:ext cx="5306291" cy="847817"/>
          </a:xfrm>
        </p:spPr>
        <p:txBody>
          <a:bodyPr>
            <a:normAutofit/>
          </a:bodyPr>
          <a:lstStyle/>
          <a:p>
            <a:r>
              <a:rPr lang="en-US" dirty="0"/>
              <a:t>Technology Used</a:t>
            </a:r>
          </a:p>
        </p:txBody>
      </p:sp>
    </p:spTree>
    <p:extLst>
      <p:ext uri="{BB962C8B-B14F-4D97-AF65-F5344CB8AC3E}">
        <p14:creationId xmlns:p14="http://schemas.microsoft.com/office/powerpoint/2010/main" val="13419010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7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7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7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7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/>
      <p:bldP spid="9" grpId="0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BB0C869-7C5C-4070-BD4D-F3FC2DA8F3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AFE3A2AF-177E-45E6-A191-0F8523DB7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372426BE-BEE7-4A6D-BCD2-059615BBCE25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E61E227A-5883-4C77-B25A-46A22FFDF41F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19D8AC7-3787-4ADB-9212-0808F015C2DD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 vert="horz" lIns="91440" tIns="45720" rIns="91440" bIns="45720" rtlCol="0" anchor="t">
            <a:normAutofit fontScale="25000" lnSpcReduction="20000"/>
          </a:bodyPr>
          <a:lstStyle/>
          <a:p>
            <a:pPr marL="0" indent="0">
              <a:buNone/>
            </a:pPr>
            <a:r>
              <a:rPr lang="en-IN" sz="8000" b="1" dirty="0"/>
              <a:t>Dataset Ingestion &amp; Verification</a:t>
            </a:r>
          </a:p>
          <a:p>
            <a:pPr lvl="0"/>
            <a:r>
              <a:rPr lang="en-IN" sz="8000" b="1" dirty="0"/>
              <a:t>Scale: </a:t>
            </a:r>
            <a:r>
              <a:rPr lang="en-IN" sz="7200" dirty="0"/>
              <a:t>Confirmed 4,000 complete farm records across 28 multi-disciplinary agricultural features.</a:t>
            </a:r>
          </a:p>
          <a:p>
            <a:pPr lvl="0"/>
            <a:r>
              <a:rPr lang="en-IN" sz="8000" b="1" dirty="0"/>
              <a:t>Entity Integrity: </a:t>
            </a:r>
            <a:r>
              <a:rPr lang="en-IN" sz="7200" dirty="0"/>
              <a:t>Zero duplicate Farm IDs found, ensuring each entry represents an individual farm entity.</a:t>
            </a:r>
          </a:p>
          <a:p>
            <a:pPr lvl="0"/>
            <a:r>
              <a:rPr lang="en-IN" sz="8000" b="1" dirty="0"/>
              <a:t>Missing Value Detection:</a:t>
            </a:r>
            <a:r>
              <a:rPr lang="en-IN" sz="8000" dirty="0"/>
              <a:t> </a:t>
            </a:r>
            <a:r>
              <a:rPr lang="en-IN" sz="7200" dirty="0"/>
              <a:t>Isolated missing attributes restricted to Rainfall (1.20%), Soil Moisture (1.00%), and Yield (0.80%).</a:t>
            </a:r>
          </a:p>
          <a:p>
            <a:pPr lvl="0"/>
            <a:r>
              <a:rPr lang="en-IN" sz="8000" b="1" dirty="0"/>
              <a:t>Type Safety</a:t>
            </a:r>
            <a:r>
              <a:rPr lang="en-IN" sz="7200" b="1" dirty="0"/>
              <a:t>:</a:t>
            </a:r>
            <a:r>
              <a:rPr lang="en-IN" sz="7200" dirty="0"/>
              <a:t> Cleanly categorized into 17 floating-point values, 5 integers, and 6 categorical indicators.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2" name="Picture 1" descr="Data Ingestion and Inspection Screenshot">
            <a:extLst>
              <a:ext uri="{FF2B5EF4-FFF2-40B4-BE49-F238E27FC236}">
                <a16:creationId xmlns:a16="http://schemas.microsoft.com/office/drawing/2014/main" id="{C1CBFACB-27F8-27EA-54B3-0E9B4FE3261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70453"/>
            <a:ext cx="5884555" cy="4340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86225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EAAE43-B138-25CD-D01F-41DB388556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FCF24DA-3CDC-4D87-9335-AB913C783F76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6D5AF756-BADB-9E87-14AC-F87A8C7463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716F3BA-AE41-9B35-3BCA-353F205375D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E149068-B429-662F-714A-0DD8CE171A51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3A64DB11-806F-1A4C-E0D5-D745D29CED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81513" y="1130890"/>
            <a:ext cx="4275138" cy="4775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Subgroup Imputation &amp; Metrics</a:t>
            </a:r>
          </a:p>
          <a:p>
            <a:pPr lvl="0"/>
            <a:r>
              <a:rPr lang="en-IN" b="1" dirty="0"/>
              <a:t>Targeted Imputation:</a:t>
            </a:r>
            <a:r>
              <a:rPr lang="en-IN" dirty="0"/>
              <a:t> </a:t>
            </a:r>
            <a:r>
              <a:rPr lang="en-IN" sz="1800" dirty="0"/>
              <a:t>Replaced missing values using subgroup medians by Season (Rainfall, Moisture) and Crop-Season pairs .</a:t>
            </a:r>
          </a:p>
          <a:p>
            <a:pPr lvl="0"/>
            <a:r>
              <a:rPr lang="en-IN" b="1" dirty="0"/>
              <a:t>Mathematical Consistency:</a:t>
            </a:r>
            <a:r>
              <a:rPr lang="en-IN" dirty="0"/>
              <a:t> </a:t>
            </a:r>
            <a:r>
              <a:rPr lang="en-IN" sz="1800" dirty="0"/>
              <a:t>Recomputed Production Tonnes to preserve the exact identity with Yield and Area.</a:t>
            </a:r>
          </a:p>
          <a:p>
            <a:pPr lvl="0"/>
            <a:r>
              <a:rPr lang="en-IN" b="1" dirty="0"/>
              <a:t>Per-Hectare Normalization:</a:t>
            </a:r>
            <a:r>
              <a:rPr lang="en-IN" dirty="0"/>
              <a:t> </a:t>
            </a:r>
            <a:r>
              <a:rPr lang="en-IN" sz="1800" dirty="0"/>
              <a:t>Engineered Cost/Ha, Revenue/Ha, and Profit/Ha to enable fair farm-scale comparisons.</a:t>
            </a:r>
          </a:p>
          <a:p>
            <a:pPr lvl="0"/>
            <a:r>
              <a:rPr lang="en-IN" b="1" dirty="0"/>
              <a:t>Economic Indicators:</a:t>
            </a:r>
            <a:r>
              <a:rPr lang="en-IN" dirty="0"/>
              <a:t> </a:t>
            </a:r>
            <a:r>
              <a:rPr lang="en-IN" sz="1800" dirty="0"/>
              <a:t>Computed Profit Margin percentages and a binary Profitability classification indicator.</a:t>
            </a:r>
          </a:p>
        </p:txBody>
      </p:sp>
      <p:pic>
        <p:nvPicPr>
          <p:cNvPr id="2" name="Picture 1" descr="Feature Engineering Code and Output">
            <a:extLst>
              <a:ext uri="{FF2B5EF4-FFF2-40B4-BE49-F238E27FC236}">
                <a16:creationId xmlns:a16="http://schemas.microsoft.com/office/drawing/2014/main" id="{3E839E27-16A8-ECB0-E07F-3D0E0885B2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57975" y="1941449"/>
            <a:ext cx="5429250" cy="400665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9627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F9E943-C59C-1D86-29CA-F786C47BAB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BEC6E6C7-69F2-D361-F3CC-FC5268D9BC8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DFCD5524-F764-DC63-6F54-D48057CF17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4B1E3463-DEAD-53DD-2AC0-E8A458421D0B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B713140B-3822-90E0-F216-B77A695B86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B6E3B1C7-6A8B-23EE-6251-DC1067C6ADE9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35739" y="1275371"/>
            <a:ext cx="4275138" cy="4775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Multi-Panel Performance Findings</a:t>
            </a:r>
          </a:p>
          <a:p>
            <a:pPr lvl="0"/>
            <a:r>
              <a:rPr lang="en-IN" b="1" dirty="0"/>
              <a:t>Kharif Supremacy</a:t>
            </a:r>
            <a:r>
              <a:rPr lang="en-IN" sz="1800" b="1" dirty="0"/>
              <a:t>:</a:t>
            </a:r>
            <a:r>
              <a:rPr lang="en-IN" sz="1800" dirty="0"/>
              <a:t> Recorded peak mean yield (5.63 t/ha) and highest profit (mean ₹21,881/ha; 58% profitable).</a:t>
            </a:r>
          </a:p>
          <a:p>
            <a:pPr lvl="0"/>
            <a:r>
              <a:rPr lang="en-IN" b="1" dirty="0"/>
              <a:t>Rabi Stability:</a:t>
            </a:r>
            <a:r>
              <a:rPr lang="en-IN" dirty="0"/>
              <a:t> </a:t>
            </a:r>
            <a:r>
              <a:rPr lang="en-IN" sz="1800" dirty="0"/>
              <a:t>Sustained steady production (5.09 t/ha mean) and moderate returns (₹10,361/ha) under cool weather.</a:t>
            </a:r>
          </a:p>
          <a:p>
            <a:pPr lvl="0"/>
            <a:r>
              <a:rPr lang="en-IN" b="1" dirty="0"/>
              <a:t>The Zaid Deficit:</a:t>
            </a:r>
            <a:r>
              <a:rPr lang="en-IN" dirty="0"/>
              <a:t> </a:t>
            </a:r>
            <a:r>
              <a:rPr lang="en-IN" sz="1800" dirty="0"/>
              <a:t>Exhibited net negative median profits (-₹13,760/ha; 36% profitable) due to heat and water stress.</a:t>
            </a:r>
          </a:p>
          <a:p>
            <a:pPr lvl="0"/>
            <a:r>
              <a:rPr lang="en-IN" b="1" dirty="0"/>
              <a:t>Irrigation Divergence:</a:t>
            </a:r>
            <a:r>
              <a:rPr lang="en-IN" dirty="0"/>
              <a:t> </a:t>
            </a:r>
            <a:r>
              <a:rPr lang="en-IN" sz="1800" dirty="0"/>
              <a:t>Drip irrigation preserved positive net margins across all seasons, whereas flood suffered steep summer losses.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F5D6F1-67C2-094A-8367-AC2C95A784B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670453"/>
            <a:ext cx="6096000" cy="41445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989017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A05AC1B-54F8-474D-6B86-CF23FDF34B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E9D7CE81-8696-30A4-F33E-B4B569D3502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15FD49EE-0956-AAE3-737B-15F7D4267C1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D224F8B1-34DD-5A54-7F70-25EBA532E6E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5A36120-3EFF-6A69-8D23-42BFD883ADDA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2B7B89A1-9444-8322-CADC-42D31D698FA8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07164" y="1431693"/>
            <a:ext cx="4275138" cy="477520"/>
          </a:xfrm>
        </p:spPr>
        <p:txBody>
          <a:bodyPr>
            <a:normAutofit fontScale="25000" lnSpcReduction="20000"/>
          </a:bodyPr>
          <a:lstStyle/>
          <a:p>
            <a:pPr marL="0" indent="0">
              <a:buNone/>
            </a:pPr>
            <a:r>
              <a:rPr lang="en-IN" sz="8000" b="1" dirty="0"/>
              <a:t>Correlation &amp; Driver Discovery</a:t>
            </a:r>
          </a:p>
          <a:p>
            <a:pPr lvl="0"/>
            <a:r>
              <a:rPr lang="en-IN" sz="8000" b="1" dirty="0"/>
              <a:t>Water Efficiency Drives Economics:</a:t>
            </a:r>
            <a:r>
              <a:rPr lang="en-IN" sz="8000" dirty="0"/>
              <a:t> </a:t>
            </a:r>
            <a:r>
              <a:rPr lang="en-IN" sz="7200" dirty="0"/>
              <a:t>Water efficiency strongly correlates with net profit per hectare (r = 0.54) and yield (r = 0.92).</a:t>
            </a:r>
          </a:p>
          <a:p>
            <a:pPr lvl="0"/>
            <a:r>
              <a:rPr lang="en-IN" sz="8000" b="1" dirty="0"/>
              <a:t>Precipitation and Pest Threat:</a:t>
            </a:r>
            <a:r>
              <a:rPr lang="en-IN" sz="8000" dirty="0"/>
              <a:t> </a:t>
            </a:r>
            <a:r>
              <a:rPr lang="en-IN" sz="7200" dirty="0"/>
              <a:t>Natural rainfall strongly amplifies pest/disease risk (r = 0.62) and relative humidity (r = 0.53).</a:t>
            </a:r>
          </a:p>
          <a:p>
            <a:pPr lvl="0"/>
            <a:r>
              <a:rPr lang="en-IN" sz="8000" b="1" dirty="0"/>
              <a:t>Fertilizer Decoupling:</a:t>
            </a:r>
            <a:r>
              <a:rPr lang="en-IN" sz="8000" dirty="0"/>
              <a:t> </a:t>
            </a:r>
            <a:r>
              <a:rPr lang="en-IN" sz="7200" dirty="0"/>
              <a:t>Chemical fertilizer exhibits near-zero correlation with yield (r = -0.00), demonstrating diminishing returns.</a:t>
            </a:r>
          </a:p>
          <a:p>
            <a:pPr lvl="0"/>
            <a:r>
              <a:rPr lang="en-IN" sz="8000" b="1" dirty="0"/>
              <a:t>Pesticide Efficacy:</a:t>
            </a:r>
            <a:r>
              <a:rPr lang="en-IN" sz="8000" dirty="0"/>
              <a:t> </a:t>
            </a:r>
            <a:r>
              <a:rPr lang="en-IN" sz="7200" dirty="0"/>
              <a:t>Chemical pesticide application demonstrated an effective negative association with pest risk (r = -0.47).</a:t>
            </a:r>
          </a:p>
          <a:p>
            <a:pPr marL="0" indent="0">
              <a:buNone/>
            </a:pPr>
            <a:endParaRPr lang="en-IN" dirty="0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339DF9B-50EB-4DD0-7F55-00304E2C7B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09212"/>
            <a:ext cx="6096000" cy="45627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3979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30C45-6A74-29AD-A5C0-D5F36592D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9E7611FF-D6E5-400F-ED75-6F5531CFA95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9E35150-35BD-1B1F-9A8C-890DBFDF3B5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2981643" cy="830997"/>
          </a:xfrm>
        </p:spPr>
        <p:txBody>
          <a:bodyPr>
            <a:normAutofit/>
          </a:bodyPr>
          <a:lstStyle/>
          <a:p>
            <a:r>
              <a:rPr lang="en-GB" dirty="0"/>
              <a:t>RESULTS </a:t>
            </a:r>
            <a:endParaRPr lang="en-IN" dirty="0"/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5A2A9BCE-A757-223C-2A3D-44341FB27A61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1EED58A7-2CD5-1355-8D1D-DD62A1ED8CB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10" name="Text Placeholder 1">
            <a:extLst>
              <a:ext uri="{FF2B5EF4-FFF2-40B4-BE49-F238E27FC236}">
                <a16:creationId xmlns:a16="http://schemas.microsoft.com/office/drawing/2014/main" id="{F85C769B-425A-FE3B-E47A-3B747985DC52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850026" y="1201586"/>
            <a:ext cx="4275138" cy="477520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IN" b="1" dirty="0"/>
              <a:t>Evidence-Based Conclusions</a:t>
            </a:r>
          </a:p>
          <a:p>
            <a:pPr lvl="0"/>
            <a:r>
              <a:rPr lang="en-IN" b="1" dirty="0"/>
              <a:t>Crop Resilience:</a:t>
            </a:r>
            <a:r>
              <a:rPr lang="en-IN" dirty="0"/>
              <a:t> </a:t>
            </a:r>
            <a:r>
              <a:rPr lang="en-IN" sz="1800" dirty="0"/>
              <a:t>Commercial crops (Sugarcane, Chilli) maintain robust profitability across all seasons (&gt;₹51,000/ha in Zaid).</a:t>
            </a:r>
          </a:p>
          <a:p>
            <a:pPr lvl="0"/>
            <a:r>
              <a:rPr lang="en-IN" b="1" dirty="0"/>
              <a:t>Grain Vulnerability:</a:t>
            </a:r>
            <a:r>
              <a:rPr lang="en-IN" dirty="0"/>
              <a:t> </a:t>
            </a:r>
            <a:r>
              <a:rPr lang="en-IN" sz="1800" dirty="0"/>
              <a:t>Food staples (Rice, Wheat, Maize) operate near break-even, suffering heavy negative margins during summer.</a:t>
            </a:r>
          </a:p>
          <a:p>
            <a:pPr lvl="0"/>
            <a:r>
              <a:rPr lang="en-IN" b="1" dirty="0"/>
              <a:t>Micro-Irrigation Mandate:</a:t>
            </a:r>
            <a:r>
              <a:rPr lang="en-IN" dirty="0"/>
              <a:t> </a:t>
            </a:r>
            <a:r>
              <a:rPr lang="en-IN" sz="1800" dirty="0"/>
              <a:t>Enforcing drip irrigation in Zaid eliminates evaporative waste and reverses negative cash flows.</a:t>
            </a:r>
          </a:p>
          <a:p>
            <a:pPr lvl="0"/>
            <a:r>
              <a:rPr lang="en-IN" b="1" dirty="0"/>
              <a:t>Monsoon IPM:</a:t>
            </a:r>
            <a:r>
              <a:rPr lang="en-IN" dirty="0"/>
              <a:t> </a:t>
            </a:r>
            <a:r>
              <a:rPr lang="en-IN" sz="1800" dirty="0"/>
              <a:t>Recommends preventive bio-pesticide scheduling prior to peak Kharif humidity to counter pest spikes.</a:t>
            </a:r>
          </a:p>
        </p:txBody>
      </p:sp>
      <p:pic>
        <p:nvPicPr>
          <p:cNvPr id="2" name="Picture 1" descr="Synthesis Markdown Summary">
            <a:extLst>
              <a:ext uri="{FF2B5EF4-FFF2-40B4-BE49-F238E27FC236}">
                <a16:creationId xmlns:a16="http://schemas.microsoft.com/office/drawing/2014/main" id="{3BF6B66F-BC51-305C-2DD7-EB1532A81B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6000" y="1909213"/>
            <a:ext cx="6096000" cy="40058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215222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1000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9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0" dur="1000" fill="hold"/>
                                        <p:tgtEl>
                                          <p:spTgt spid="1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1000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36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7" dur="1000" fill="hold"/>
                                        <p:tgtEl>
                                          <p:spTgt spid="1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1000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43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4" dur="1000" fill="hold"/>
                                        <p:tgtEl>
                                          <p:spTgt spid="10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5" fill="hold">
                      <p:stCondLst>
                        <p:cond delay="indefinite"/>
                      </p:stCondLst>
                      <p:childTnLst>
                        <p:par>
                          <p:cTn id="46" fill="hold">
                            <p:stCondLst>
                              <p:cond delay="0"/>
                            </p:stCondLst>
                            <p:childTnLst>
                              <p:par>
                                <p:cTn id="47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9" dur="1000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0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1000" fill="hold"/>
                                        <p:tgtEl>
                                          <p:spTgt spid="1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2" fill="hold">
                      <p:stCondLst>
                        <p:cond delay="indefinite"/>
                      </p:stCondLst>
                      <p:childTnLst>
                        <p:par>
                          <p:cTn id="53" fill="hold">
                            <p:stCondLst>
                              <p:cond delay="0"/>
                            </p:stCondLst>
                            <p:childTnLst>
                              <p:par>
                                <p:cTn id="54" presetID="42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1000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57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8" dur="1000" fill="hold"/>
                                        <p:tgtEl>
                                          <p:spTgt spid="1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  <p:bldP spid="10" grpId="0" build="p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6E94ED-1743-306E-1CA1-9410A2B509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04506C61-5206-F1DF-9994-DED24DFB1C65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B097C2C-D75A-31D4-CD9F-366F39CDE5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Future scope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B7444DDE-63A3-9721-77CC-C93FED110DAF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2C8A8B73-0C64-E012-F561-D7FE5E322230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F2C646-F8EE-3108-33F8-28A8A102C2FD}"/>
              </a:ext>
            </a:extLst>
          </p:cNvPr>
          <p:cNvSpPr txBox="1"/>
          <p:nvPr/>
        </p:nvSpPr>
        <p:spPr>
          <a:xfrm>
            <a:off x="675956" y="1582340"/>
            <a:ext cx="8982393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Supervised Machine Learning Models: </a:t>
            </a:r>
            <a:r>
              <a:rPr lang="en-IN" dirty="0"/>
              <a:t>Build Random Forest and </a:t>
            </a:r>
            <a:r>
              <a:rPr lang="en-IN" dirty="0" err="1"/>
              <a:t>XGBoost</a:t>
            </a:r>
            <a:r>
              <a:rPr lang="en-IN" dirty="0"/>
              <a:t> regression models to predict harvest yield and profit margins based on pre-sowing weather forecasts.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IoT &amp; Remote Sensing Integration:</a:t>
            </a:r>
            <a:r>
              <a:rPr lang="en-IN" sz="2000" dirty="0"/>
              <a:t> </a:t>
            </a:r>
            <a:r>
              <a:rPr lang="en-IN" dirty="0"/>
              <a:t>Ingest satellite-derived vegetative indices (NDVI) and real-time IoT soil sensors for dynamic irrigation scheduling.</a:t>
            </a:r>
          </a:p>
          <a:p>
            <a:pPr lvl="0"/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Climate Stress Testing:</a:t>
            </a:r>
            <a:r>
              <a:rPr lang="en-IN" sz="2000" dirty="0"/>
              <a:t> </a:t>
            </a:r>
            <a:r>
              <a:rPr lang="en-IN" dirty="0"/>
              <a:t>Simulate extreme weather events (heatwaves, delayed monsoons) to stress-test farm resilience across vulnerable districts.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sz="2000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000" b="1" dirty="0"/>
              <a:t>Farmer Decision Support System (DSS):</a:t>
            </a:r>
            <a:r>
              <a:rPr lang="en-IN" sz="2000" dirty="0"/>
              <a:t> </a:t>
            </a:r>
            <a:r>
              <a:rPr lang="en-IN" dirty="0"/>
              <a:t>Develop a web-based dashboard (</a:t>
            </a:r>
            <a:r>
              <a:rPr lang="en-IN" dirty="0" err="1"/>
              <a:t>Streamlit</a:t>
            </a:r>
            <a:r>
              <a:rPr lang="en-IN" dirty="0"/>
              <a:t> / </a:t>
            </a:r>
            <a:r>
              <a:rPr lang="en-IN" dirty="0" err="1"/>
              <a:t>FastAPI</a:t>
            </a:r>
            <a:r>
              <a:rPr lang="en-IN" dirty="0"/>
              <a:t>) providing localized crop and irrigation recommendations.</a:t>
            </a:r>
          </a:p>
        </p:txBody>
      </p:sp>
    </p:spTree>
    <p:extLst>
      <p:ext uri="{BB962C8B-B14F-4D97-AF65-F5344CB8AC3E}">
        <p14:creationId xmlns:p14="http://schemas.microsoft.com/office/powerpoint/2010/main" val="7768281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7316CE-193E-3D5D-C15A-98517303A1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D44118A-0276-9E2F-E0E8-85CEE9F1E0C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901A2257-2F98-CB88-038E-C0F1D0A1A36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4735798" cy="830997"/>
          </a:xfrm>
        </p:spPr>
        <p:txBody>
          <a:bodyPr>
            <a:normAutofit/>
          </a:bodyPr>
          <a:lstStyle/>
          <a:p>
            <a:r>
              <a:rPr lang="en-IN" sz="4000" dirty="0"/>
              <a:t>GitHub Link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AF1C8809-654A-4DD1-BB18-87B8B6C020B9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0F7D0B46-DEEA-1B5E-FE84-59D11F3B1105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38D7A86-1858-5407-3645-5718EB594039}"/>
              </a:ext>
            </a:extLst>
          </p:cNvPr>
          <p:cNvSpPr txBox="1"/>
          <p:nvPr/>
        </p:nvSpPr>
        <p:spPr>
          <a:xfrm>
            <a:off x="1404619" y="1368903"/>
            <a:ext cx="6107906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dirty="0">
                <a:hlinkClick r:id="rId3"/>
              </a:rPr>
              <a:t>https://github.com/ygurubetti/Seasonal-Agriculture-Performance-Analysis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8636104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866297-EA5A-44FA-6968-26D32B9B1E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B12FC48-BC6E-8635-A49E-73EF17CEDC01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4" name="Title 3">
            <a:extLst>
              <a:ext uri="{FF2B5EF4-FFF2-40B4-BE49-F238E27FC236}">
                <a16:creationId xmlns:a16="http://schemas.microsoft.com/office/drawing/2014/main" id="{42B692F6-18B4-BC16-EA0C-48FFBD5621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5957" y="370589"/>
            <a:ext cx="8351388" cy="884658"/>
          </a:xfrm>
        </p:spPr>
        <p:txBody>
          <a:bodyPr>
            <a:normAutofit fontScale="90000"/>
          </a:bodyPr>
          <a:lstStyle/>
          <a:p>
            <a:r>
              <a:rPr lang="en-IN" sz="3200" dirty="0"/>
              <a:t>VOIS Course completion certificate - </a:t>
            </a:r>
            <a:br>
              <a:rPr lang="en-IN" sz="3200" dirty="0"/>
            </a:br>
            <a:r>
              <a:rPr lang="en-IN" sz="3200" dirty="0"/>
              <a:t>Course name- Data Visualization </a:t>
            </a:r>
          </a:p>
        </p:txBody>
      </p:sp>
      <p:sp>
        <p:nvSpPr>
          <p:cNvPr id="7" name="Text Placeholder 30">
            <a:extLst>
              <a:ext uri="{FF2B5EF4-FFF2-40B4-BE49-F238E27FC236}">
                <a16:creationId xmlns:a16="http://schemas.microsoft.com/office/drawing/2014/main" id="{069BD300-7A70-B076-3B4C-43081E893162}"/>
              </a:ext>
            </a:extLst>
          </p:cNvPr>
          <p:cNvSpPr txBox="1">
            <a:spLocks/>
          </p:cNvSpPr>
          <p:nvPr/>
        </p:nvSpPr>
        <p:spPr>
          <a:xfrm>
            <a:off x="320982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sp>
        <p:nvSpPr>
          <p:cNvPr id="8" name="Text Placeholder 30">
            <a:extLst>
              <a:ext uri="{FF2B5EF4-FFF2-40B4-BE49-F238E27FC236}">
                <a16:creationId xmlns:a16="http://schemas.microsoft.com/office/drawing/2014/main" id="{8C1854F2-9914-C22F-FF0B-693CD1D0F966}"/>
              </a:ext>
            </a:extLst>
          </p:cNvPr>
          <p:cNvSpPr txBox="1">
            <a:spLocks/>
          </p:cNvSpPr>
          <p:nvPr/>
        </p:nvSpPr>
        <p:spPr>
          <a:xfrm>
            <a:off x="4345694" y="1275371"/>
            <a:ext cx="3343561" cy="6660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sz="2000" dirty="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0F8A35D-35BA-91E8-FC92-089B0E1FA51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92762" y="1536256"/>
            <a:ext cx="7254869" cy="5128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628022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4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10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15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6" dur="10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42" presetClass="entr" presetSubtype="0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9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10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  <p:anim calcmode="lin" valueType="num">
                                      <p:cBhvr>
                                        <p:cTn id="22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10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.1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/>
      <p:bldP spid="7" grpId="0"/>
      <p:bldP spid="8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D88C20CF-C1EE-4092-B52D-FD4AB2AB2508}"/>
              </a:ext>
            </a:extLst>
          </p:cNvPr>
          <p:cNvSpPr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anchor="ctr">
            <a:normAutofit fontScale="90000"/>
          </a:bodyPr>
          <a:lstStyle/>
          <a:p>
            <a:pPr algn="ctr"/>
            <a:r>
              <a:rPr lang="en-US" sz="4800" b="1" dirty="0">
                <a:solidFill>
                  <a:schemeClr val="tx1"/>
                </a:solidFill>
              </a:rPr>
              <a:t>Thank you</a:t>
            </a:r>
          </a:p>
        </p:txBody>
      </p:sp>
      <p:sp>
        <p:nvSpPr>
          <p:cNvPr id="17" name="Text Placeholder 28">
            <a:extLst>
              <a:ext uri="{FF2B5EF4-FFF2-40B4-BE49-F238E27FC236}">
                <a16:creationId xmlns:a16="http://schemas.microsoft.com/office/drawing/2014/main" id="{E212CE24-374D-44D0-8F39-0F5A36E42ED7}"/>
              </a:ext>
            </a:extLst>
          </p:cNvPr>
          <p:cNvSpPr txBox="1">
            <a:spLocks/>
          </p:cNvSpPr>
          <p:nvPr/>
        </p:nvSpPr>
        <p:spPr>
          <a:xfrm>
            <a:off x="878337" y="4134780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 lnSpcReduction="10000"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400" dirty="0"/>
          </a:p>
        </p:txBody>
      </p:sp>
      <p:sp>
        <p:nvSpPr>
          <p:cNvPr id="20" name="Text Placeholder 28">
            <a:extLst>
              <a:ext uri="{FF2B5EF4-FFF2-40B4-BE49-F238E27FC236}">
                <a16:creationId xmlns:a16="http://schemas.microsoft.com/office/drawing/2014/main" id="{A09A5BC1-0E62-4E6B-A590-951A87D4B4FE}"/>
              </a:ext>
            </a:extLst>
          </p:cNvPr>
          <p:cNvSpPr txBox="1">
            <a:spLocks/>
          </p:cNvSpPr>
          <p:nvPr/>
        </p:nvSpPr>
        <p:spPr>
          <a:xfrm>
            <a:off x="5353508" y="3962573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23" name="Text Placeholder 28">
            <a:extLst>
              <a:ext uri="{FF2B5EF4-FFF2-40B4-BE49-F238E27FC236}">
                <a16:creationId xmlns:a16="http://schemas.microsoft.com/office/drawing/2014/main" id="{9E6B148F-F3B6-4E6B-9B85-645C039858E8}"/>
              </a:ext>
            </a:extLst>
          </p:cNvPr>
          <p:cNvSpPr txBox="1">
            <a:spLocks/>
          </p:cNvSpPr>
          <p:nvPr/>
        </p:nvSpPr>
        <p:spPr>
          <a:xfrm>
            <a:off x="7789163" y="3962572"/>
            <a:ext cx="2596574" cy="45391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2000" b="1" kern="1200" dirty="0" smtClean="0">
                <a:solidFill>
                  <a:schemeClr val="accent4"/>
                </a:solidFill>
                <a:latin typeface="+mj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IN" sz="2200" dirty="0"/>
          </a:p>
        </p:txBody>
      </p:sp>
      <p:sp>
        <p:nvSpPr>
          <p:cNvPr id="30" name="Text Placeholder 30">
            <a:extLst>
              <a:ext uri="{FF2B5EF4-FFF2-40B4-BE49-F238E27FC236}">
                <a16:creationId xmlns:a16="http://schemas.microsoft.com/office/drawing/2014/main" id="{D3BF02F6-2753-476A-8046-A85AE3A49748}"/>
              </a:ext>
            </a:extLst>
          </p:cNvPr>
          <p:cNvSpPr txBox="1">
            <a:spLocks/>
          </p:cNvSpPr>
          <p:nvPr/>
        </p:nvSpPr>
        <p:spPr>
          <a:xfrm>
            <a:off x="6096000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endParaRPr lang="en-GB" dirty="0"/>
          </a:p>
        </p:txBody>
      </p:sp>
      <p:sp>
        <p:nvSpPr>
          <p:cNvPr id="32" name="Text Placeholder 30">
            <a:extLst>
              <a:ext uri="{FF2B5EF4-FFF2-40B4-BE49-F238E27FC236}">
                <a16:creationId xmlns:a16="http://schemas.microsoft.com/office/drawing/2014/main" id="{B993AB29-3A3A-4473-8AC8-86E859C97321}"/>
              </a:ext>
            </a:extLst>
          </p:cNvPr>
          <p:cNvSpPr txBox="1">
            <a:spLocks/>
          </p:cNvSpPr>
          <p:nvPr/>
        </p:nvSpPr>
        <p:spPr>
          <a:xfrm>
            <a:off x="8591363" y="4641925"/>
            <a:ext cx="2139695" cy="110863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None/>
              <a:defRPr lang="en-US" sz="1600" kern="1200" dirty="0" smtClean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ct val="80000"/>
              <a:buFont typeface="Wingdings 3" charset="2"/>
              <a:buChar char="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GB" dirty="0"/>
              <a:t>.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D3F9E86-2FB3-4DB3-9343-59D594F350A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t="96181"/>
          <a:stretch/>
        </p:blipFill>
        <p:spPr>
          <a:xfrm>
            <a:off x="675957" y="6471920"/>
            <a:ext cx="2143125" cy="19304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EFA51A9C-7ADF-C3B6-A8CD-11CAA2EC3634}"/>
              </a:ext>
            </a:extLst>
          </p:cNvPr>
          <p:cNvSpPr txBox="1"/>
          <p:nvPr/>
        </p:nvSpPr>
        <p:spPr>
          <a:xfrm>
            <a:off x="1496616" y="1851577"/>
            <a:ext cx="7490222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Project:</a:t>
            </a:r>
            <a:r>
              <a:rPr lang="en-IN" dirty="0"/>
              <a:t> Seasonal Agriculture Performance Analysis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Presenter:</a:t>
            </a:r>
            <a:r>
              <a:rPr lang="en-IN" dirty="0"/>
              <a:t> Yogesh </a:t>
            </a:r>
            <a:r>
              <a:rPr lang="en-IN" dirty="0" err="1"/>
              <a:t>Gurubetti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GitHub:</a:t>
            </a:r>
            <a:r>
              <a:rPr lang="en-IN" dirty="0"/>
              <a:t> </a:t>
            </a:r>
            <a:r>
              <a:rPr lang="en-IN" dirty="0">
                <a:latin typeface="+mn-lt"/>
              </a:rPr>
              <a:t>[https://github.com/](https://github.com/)&lt;your-username&gt;/seasonal-agriculture-performance-analysis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b="1" dirty="0"/>
              <a:t>Email:</a:t>
            </a:r>
            <a:r>
              <a:rPr lang="en-IN" dirty="0"/>
              <a:t> </a:t>
            </a:r>
            <a:r>
              <a:rPr lang="en-IN" dirty="0">
                <a:hlinkClick r:id="rId3"/>
              </a:rPr>
              <a:t>ygurubetti@gmail.com</a:t>
            </a:r>
            <a:endParaRPr lang="en-IN" dirty="0"/>
          </a:p>
          <a:p>
            <a:pPr marL="342900" lvl="0" indent="-342900">
              <a:buFont typeface="Arial" panose="020B0604020202020204" pitchFamily="34" charset="0"/>
              <a:buChar char="•"/>
            </a:pPr>
            <a:endParaRPr lang="en-IN" dirty="0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2F2A88-2B47-DA61-A5EB-53576DF488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340174871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3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" fill="hold">
                      <p:stCondLst>
                        <p:cond delay="indefinite"/>
                      </p:stCondLst>
                      <p:childTnLst>
                        <p:par>
                          <p:cTn id="11" fill="hold">
                            <p:stCondLst>
                              <p:cond delay="0"/>
                            </p:stCondLst>
                            <p:childTnLst>
                              <p:par>
                                <p:cTn id="12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2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500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15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6" fill="hold">
                      <p:stCondLst>
                        <p:cond delay="indefinite"/>
                      </p:stCondLst>
                      <p:childTnLst>
                        <p:par>
                          <p:cTn id="17" fill="hold">
                            <p:stCondLst>
                              <p:cond delay="0"/>
                            </p:stCondLst>
                            <p:childTnLst>
                              <p:par>
                                <p:cTn id="18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18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" dur="500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1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2" fill="hold">
                      <p:stCondLst>
                        <p:cond delay="indefinite"/>
                      </p:stCondLst>
                      <p:childTnLst>
                        <p:par>
                          <p:cTn id="23" fill="hold">
                            <p:stCondLst>
                              <p:cond delay="0"/>
                            </p:stCondLst>
                            <p:childTnLst>
                              <p:par>
                                <p:cTn id="24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24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500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27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2" presetClass="entr" presetSubtype="4" fill="hold" grpId="0" nodeType="clickEffect" nodePh="1">
                                  <p:stCondLst>
                                    <p:cond delay="0"/>
                                  </p:stCondLst>
                                  <p:endCondLst>
                                    <p:cond evt="begin" delay="0">
                                      <p:tn val="30"/>
                                    </p:cond>
                                  </p:end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3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/>
                                        <p:tgtEl>
                                          <p:spTgt spid="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+#ppt_h*1.125000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  <p:animEffect transition="in" filter="wipe(up)">
                                      <p:cBhvr>
                                        <p:cTn id="3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17" grpId="0"/>
      <p:bldP spid="20" grpId="0"/>
      <p:bldP spid="23" grpId="0"/>
      <p:bldP spid="30" grpId="0"/>
      <p:bldP spid="32" grpId="0"/>
    </p:bldLst>
  </p:timing>
</p:sld>
</file>

<file path=ppt/theme/theme1.xml><?xml version="1.0" encoding="utf-8"?>
<a:theme xmlns:a="http://schemas.openxmlformats.org/drawingml/2006/main" name="Facet">
  <a:themeElements>
    <a:clrScheme name="Facet">
      <a:dk1>
        <a:sysClr val="windowText" lastClr="000000"/>
      </a:dk1>
      <a:lt1>
        <a:sysClr val="window" lastClr="FFFFFF"/>
      </a:lt1>
      <a:dk2>
        <a:srgbClr val="2C3C43"/>
      </a:dk2>
      <a:lt2>
        <a:srgbClr val="EBEBEB"/>
      </a:lt2>
      <a:accent1>
        <a:srgbClr val="5FCBEF"/>
      </a:accent1>
      <a:accent2>
        <a:srgbClr val="2E83C3"/>
      </a:accent2>
      <a:accent3>
        <a:srgbClr val="42D0A2"/>
      </a:accent3>
      <a:accent4>
        <a:srgbClr val="2E946B"/>
      </a:accent4>
      <a:accent5>
        <a:srgbClr val="42B051"/>
      </a:accent5>
      <a:accent6>
        <a:srgbClr val="96D141"/>
      </a:accent6>
      <a:hlink>
        <a:srgbClr val="3FCDE7"/>
      </a:hlink>
      <a:folHlink>
        <a:srgbClr val="A9D3E1"/>
      </a:folHlink>
    </a:clrScheme>
    <a:fontScheme name="Facet">
      <a:majorFont>
        <a:latin typeface="Trebuchet MS" panose="020B0603020202020204"/>
        <a:ea typeface=""/>
        <a:cs typeface=""/>
        <a:font script="Jpan" typeface="メイリオ"/>
        <a:font script="Hang" typeface="맑은 고딕"/>
        <a:font script="Hans" typeface="方正姚体"/>
        <a:font script="Hant" typeface="微軟正黑體"/>
        <a:font script="Arab" typeface="Tahoma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Trebuchet MS" panose="020B0603020202020204"/>
        <a:ea typeface=""/>
        <a:cs typeface=""/>
        <a:font script="Jpan" typeface="メイリオ"/>
        <a:font script="Hang" typeface="HY그래픽M"/>
        <a:font script="Hans" typeface="华文新魏"/>
        <a:font script="Hant" typeface="微軟正黑體"/>
        <a:font script="Arab" typeface="Tahoma"/>
        <a:font script="Hebr" typeface="Gisha"/>
        <a:font script="Thai" typeface="Iris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Facet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lumMod val="110000"/>
              </a:schemeClr>
            </a:gs>
            <a:gs pos="88000">
              <a:schemeClr val="phClr">
                <a:tint val="9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6000"/>
                <a:lumMod val="100000"/>
              </a:schemeClr>
            </a:gs>
            <a:gs pos="78000">
              <a:schemeClr val="phClr">
                <a:shade val="94000"/>
                <a:lumMod val="94000"/>
              </a:schemeClr>
            </a:gs>
          </a:gsLst>
          <a:lin ang="5400000" scaled="0"/>
        </a:gradFill>
      </a:fillStyleLst>
      <a:lnStyleLst>
        <a:ln w="12700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5400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04000"/>
              </a:schemeClr>
            </a:gs>
            <a:gs pos="94000">
              <a:schemeClr val="phClr">
                <a:shade val="96000"/>
                <a:lumMod val="82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94000"/>
                <a:lumMod val="96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acet" id="{C0C680CD-088A-49FC-A102-D699147F32B2}" vid="{0B5AB586-D108-4FC1-8368-649FE654B89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tatus xmlns="71af3243-3dd4-4a8d-8c0d-dd76da1f02a5">Not started</Status>
    <MediaServiceKeyPoints xmlns="71af3243-3dd4-4a8d-8c0d-dd76da1f02a5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12" ma:contentTypeDescription="Create a new document." ma:contentTypeScope="" ma:versionID="426e97fa315356fffbdcd9876fe988c2">
  <xsd:schema xmlns:xsd="http://www.w3.org/2001/XMLSchema" xmlns:xs="http://www.w3.org/2001/XMLSchema" xmlns:p="http://schemas.microsoft.com/office/2006/metadata/properties" xmlns:ns2="71af3243-3dd4-4a8d-8c0d-dd76da1f02a5" xmlns:ns3="16c05727-aa75-4e4a-9b5f-8a80a1165891" targetNamespace="http://schemas.microsoft.com/office/2006/metadata/properties" ma:root="true" ma:fieldsID="14b8f0def80e6d70ce3def20c90759ae" ns2:_="" ns3:_="">
    <xsd:import namespace="71af3243-3dd4-4a8d-8c0d-dd76da1f02a5"/>
    <xsd:import namespace="16c05727-aa75-4e4a-9b5f-8a80a1165891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2:Statu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AutoTags" ma:index="11" nillable="true" ma:displayName="MediaServiceAutoTags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internalName="MediaServiceKeyPoints" ma:readOnly="false">
      <xsd:simpleType>
        <xsd:restriction base="dms:Note">
          <xsd:maxLength value="255"/>
        </xsd:restriction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Status" ma:index="19" nillable="true" ma:displayName="Status" ma:default="Not started" ma:format="Dropdown" ma:internalName="Status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DEA9014-ED64-4558-B1E1-D03F0EE32BEB}">
  <ds:schemaRefs>
    <ds:schemaRef ds:uri="http://schemas.microsoft.com/office/2006/metadata/properties"/>
    <ds:schemaRef ds:uri="http://schemas.microsoft.com/office/infopath/2007/PartnerControls"/>
    <ds:schemaRef ds:uri="71af3243-3dd4-4a8d-8c0d-dd76da1f02a5"/>
  </ds:schemaRefs>
</ds:datastoreItem>
</file>

<file path=customXml/itemProps2.xml><?xml version="1.0" encoding="utf-8"?>
<ds:datastoreItem xmlns:ds="http://schemas.openxmlformats.org/officeDocument/2006/customXml" ds:itemID="{05D99ABA-76CE-4A8E-B5F0-C051B96628DE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B19EB750-A6DA-4BE8-B87B-FC499FE7336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1af3243-3dd4-4a8d-8c0d-dd76da1f02a5"/>
    <ds:schemaRef ds:uri="16c05727-aa75-4e4a-9b5f-8a80a1165891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775</TotalTime>
  <Words>951</Words>
  <Application>Microsoft Office PowerPoint</Application>
  <PresentationFormat>Widescreen</PresentationFormat>
  <Paragraphs>72</Paragraphs>
  <Slides>14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0" baseType="lpstr">
      <vt:lpstr>Arial</vt:lpstr>
      <vt:lpstr>Calibri</vt:lpstr>
      <vt:lpstr>Trebuchet MS</vt:lpstr>
      <vt:lpstr>Wingdings</vt:lpstr>
      <vt:lpstr>Wingdings 3</vt:lpstr>
      <vt:lpstr>Facet</vt:lpstr>
      <vt:lpstr>Project Title -</vt:lpstr>
      <vt:lpstr>PROBLEM  STATEMENT</vt:lpstr>
      <vt:lpstr>Project Description  Scope &amp; Data: Evaluated 4,000 farm records across 8 Indian states, analyzing 8 crop varieties over Kharif, Rabi, and Zaid seasons.  Cleaning &amp; Feature Engineering: Imputed missing values using season- and crop-specific medians, and engineered per-hectare economic indicators to eliminate farm-size bias.  Statistical &amp; Exploratory Analysis: Conducted comparative visualizations, correlation modeling, and Kruskal-Wallis hypothesis tests (p&lt;0.001) across yield, water efficiency, and pest risks.  Actionable Insights: Derived evidence-based planning recommendations for seasonal crop selection, micro-irrigation adoption, and input optimization.  </vt:lpstr>
      <vt:lpstr>WHO ARE THE END USERS?</vt:lpstr>
      <vt:lpstr>Technology Used</vt:lpstr>
      <vt:lpstr>RESULTS </vt:lpstr>
      <vt:lpstr>RESULTS </vt:lpstr>
      <vt:lpstr>RESULTS </vt:lpstr>
      <vt:lpstr>RESULTS </vt:lpstr>
      <vt:lpstr>RESULTS </vt:lpstr>
      <vt:lpstr>Future scope</vt:lpstr>
      <vt:lpstr>GitHub Link</vt:lpstr>
      <vt:lpstr>VOIS Course completion certificate -  Course name- Data Visualization 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MASKED HUNTERS</dc:title>
  <dc:creator>Venkataswamy</dc:creator>
  <cp:lastModifiedBy>ygurubetti@gmail.com</cp:lastModifiedBy>
  <cp:revision>99</cp:revision>
  <dcterms:created xsi:type="dcterms:W3CDTF">2021-07-11T13:13:15Z</dcterms:created>
  <dcterms:modified xsi:type="dcterms:W3CDTF">2026-09-09T14:59:37Z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