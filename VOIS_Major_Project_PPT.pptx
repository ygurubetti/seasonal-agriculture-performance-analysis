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C87CC-F166-4953-8109-5884B6CB60D8}" v="6" dt="2026-09-09T15:08:28.08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084" autoAdjust="0"/>
    <p:restoredTop sz="95033" autoAdjust="0"/>
  </p:normalViewPr>
  <p:slideViewPr>
    <p:cSldViewPr snapToGrid="0">
      <p:cViewPr varScale="1">
        <p:scale>
          <a:sx n="56" d="100"/>
          <a:sy n="56" d="100"/>
        </p:scale>
        <p:origin x="1094" y="4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gurubetti@gmail.com" userId="a588a26fb989e147" providerId="LiveId" clId="{234980D4-123C-4964-AD12-A6EEE24EACE6}"/>
    <pc:docChg chg="modSld">
      <pc:chgData name="ygurubetti@gmail.com" userId="a588a26fb989e147" providerId="LiveId" clId="{234980D4-123C-4964-AD12-A6EEE24EACE6}" dt="2026-09-09T15:08:10.878" v="6"/>
      <pc:docMkLst>
        <pc:docMk/>
      </pc:docMkLst>
      <pc:sldChg chg="modSp mod">
        <pc:chgData name="ygurubetti@gmail.com" userId="a588a26fb989e147" providerId="LiveId" clId="{234980D4-123C-4964-AD12-A6EEE24EACE6}" dt="2026-09-09T15:07:47.974" v="5" actId="20577"/>
        <pc:sldMkLst>
          <pc:docMk/>
          <pc:sldMk cId="3401748718" sldId="304"/>
        </pc:sldMkLst>
        <pc:spChg chg="mod">
          <ac:chgData name="ygurubetti@gmail.com" userId="a588a26fb989e147" providerId="LiveId" clId="{234980D4-123C-4964-AD12-A6EEE24EACE6}" dt="2026-09-09T15:07:47.974" v="5" actId="20577"/>
          <ac:spMkLst>
            <pc:docMk/>
            <pc:sldMk cId="3401748718" sldId="304"/>
            <ac:spMk id="5" creationId="{EFA51A9C-7ADF-C3B6-A8CD-11CAA2EC3634}"/>
          </ac:spMkLst>
        </pc:spChg>
      </pc:sldChg>
      <pc:sldChg chg="addSp modSp mod">
        <pc:chgData name="ygurubetti@gmail.com" userId="a588a26fb989e147" providerId="LiveId" clId="{234980D4-123C-4964-AD12-A6EEE24EACE6}" dt="2026-09-09T14:59:34.660" v="3" actId="1076"/>
        <pc:sldMkLst>
          <pc:docMk/>
          <pc:sldMk cId="1604013440" sldId="338"/>
        </pc:sldMkLst>
        <pc:spChg chg="mod">
          <ac:chgData name="ygurubetti@gmail.com" userId="a588a26fb989e147" providerId="LiveId" clId="{234980D4-123C-4964-AD12-A6EEE24EACE6}" dt="2026-09-09T14:59:21.281" v="1"/>
          <ac:spMkLst>
            <pc:docMk/>
            <pc:sldMk cId="1604013440" sldId="338"/>
            <ac:spMk id="3" creationId="{17F04107-8754-E47D-3375-529E689711FA}"/>
          </ac:spMkLst>
        </pc:spChg>
        <pc:spChg chg="add mod">
          <ac:chgData name="ygurubetti@gmail.com" userId="a588a26fb989e147" providerId="LiveId" clId="{234980D4-123C-4964-AD12-A6EEE24EACE6}" dt="2026-09-09T14:59:34.660" v="3" actId="1076"/>
          <ac:spMkLst>
            <pc:docMk/>
            <pc:sldMk cId="1604013440" sldId="338"/>
            <ac:spMk id="10" creationId="{5C21FC12-B2E1-C4EB-8FA3-A29FE681053E}"/>
          </ac:spMkLst>
        </pc:spChg>
      </pc:sldChg>
      <pc:sldChg chg="modSp">
        <pc:chgData name="ygurubetti@gmail.com" userId="a588a26fb989e147" providerId="LiveId" clId="{234980D4-123C-4964-AD12-A6EEE24EACE6}" dt="2026-09-09T15:08:10.878" v="6"/>
        <pc:sldMkLst>
          <pc:docMk/>
          <pc:sldMk cId="3863610428" sldId="342"/>
        </pc:sldMkLst>
        <pc:spChg chg="mod">
          <ac:chgData name="ygurubetti@gmail.com" userId="a588a26fb989e147" providerId="LiveId" clId="{234980D4-123C-4964-AD12-A6EEE24EACE6}" dt="2026-09-09T15:08:10.878" v="6"/>
          <ac:spMkLst>
            <pc:docMk/>
            <pc:sldMk cId="3863610428" sldId="342"/>
            <ac:spMk id="3" creationId="{938D7A86-1858-5407-3645-5718EB59403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gurubetti/Seasonal-Agriculture-Performance-Analysis/tree/main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gurubetti/Seasonal-Agriculture-Performance-Analysis/tree/main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4" Type="http://schemas.openxmlformats.org/officeDocument/2006/relationships/hyperlink" Target="mailto:ygurubetti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708659" y="4938797"/>
            <a:ext cx="317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AICTE STU ID :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AED06-5550-AA22-A379-C519573A5D16}"/>
              </a:ext>
            </a:extLst>
          </p:cNvPr>
          <p:cNvSpPr txBox="1"/>
          <p:nvPr/>
        </p:nvSpPr>
        <p:spPr>
          <a:xfrm>
            <a:off x="3408418" y="2958017"/>
            <a:ext cx="6272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Seasonal Agriculture Performance 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7DDA79-ABAB-1AD1-2FD5-555CD3EBBF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59" y="3613493"/>
            <a:ext cx="4220845" cy="861497"/>
          </a:xfrm>
        </p:spPr>
        <p:txBody>
          <a:bodyPr>
            <a:normAutofit fontScale="25000" lnSpcReduction="20000"/>
          </a:bodyPr>
          <a:lstStyle/>
          <a:p>
            <a:r>
              <a:rPr lang="en-IN" sz="8000" dirty="0">
                <a:solidFill>
                  <a:schemeClr val="tx1"/>
                </a:solidFill>
              </a:rPr>
              <a:t>Student Name – Yogesh B </a:t>
            </a:r>
            <a:r>
              <a:rPr lang="en-IN" sz="8000" dirty="0" err="1">
                <a:solidFill>
                  <a:schemeClr val="tx1"/>
                </a:solidFill>
              </a:rPr>
              <a:t>Gurubetti</a:t>
            </a:r>
            <a:endParaRPr lang="en-IN" sz="8000" dirty="0">
              <a:solidFill>
                <a:schemeClr val="tx1"/>
              </a:solidFill>
            </a:endParaRPr>
          </a:p>
          <a:p>
            <a:r>
              <a:rPr lang="en-IN" sz="8000" dirty="0">
                <a:solidFill>
                  <a:schemeClr val="tx1"/>
                </a:solidFill>
              </a:rPr>
              <a:t>College Name – KLE Technological </a:t>
            </a:r>
            <a:r>
              <a:rPr lang="en-IN" sz="8000" dirty="0" err="1">
                <a:solidFill>
                  <a:schemeClr val="tx1"/>
                </a:solidFill>
              </a:rPr>
              <a:t>Universty</a:t>
            </a:r>
            <a:endParaRPr lang="en-IN" sz="80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1FC12-B2E1-C4EB-8FA3-A29FE681053E}"/>
              </a:ext>
            </a:extLst>
          </p:cNvPr>
          <p:cNvSpPr txBox="1"/>
          <p:nvPr/>
        </p:nvSpPr>
        <p:spPr>
          <a:xfrm>
            <a:off x="2296840" y="4951463"/>
            <a:ext cx="61036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STU6a69d1a6114901785319846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lvl="0"/>
            <a:r>
              <a:rPr lang="en-IN" sz="8000" b="1" dirty="0"/>
              <a:t>Core Issue:</a:t>
            </a:r>
            <a:r>
              <a:rPr lang="en-IN" sz="8000" dirty="0"/>
              <a:t> </a:t>
            </a:r>
            <a:r>
              <a:rPr lang="en-IN" sz="7200" dirty="0"/>
              <a:t>Agricultural performance is heavily influenced by cyclical shifts in weather conditions, resource availability, farming practices, and market dynamics.</a:t>
            </a:r>
          </a:p>
          <a:p>
            <a:pPr lvl="0"/>
            <a:r>
              <a:rPr lang="en-IN" sz="8000" b="1" dirty="0"/>
              <a:t>The Analytical Gap:</a:t>
            </a:r>
            <a:r>
              <a:rPr lang="en-IN" sz="8000" dirty="0"/>
              <a:t> </a:t>
            </a:r>
            <a:r>
              <a:rPr lang="en-IN" sz="7200" dirty="0"/>
              <a:t>Raw agricultural datasets do not intuitively explain how and why farm performance fluctuates across cropping seasons, leaving critical relationships between environmental inputs and economic viability obscured.</a:t>
            </a:r>
          </a:p>
          <a:p>
            <a:pPr lvl="0"/>
            <a:r>
              <a:rPr lang="en-IN" sz="8000" b="1" dirty="0"/>
              <a:t>Objective:</a:t>
            </a:r>
            <a:r>
              <a:rPr lang="en-IN" sz="8000" dirty="0"/>
              <a:t> </a:t>
            </a:r>
            <a:r>
              <a:rPr lang="en-IN" sz="7200" dirty="0"/>
              <a:t>To conduct a rigorous data analytics investigation into a multi-season agricultural dataset (4,000 farms across India) to uncover underlying patterns, test seasonal performance differences statistically, evaluate resource efficiencies, and provide data-driven agricultural planning strategies.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BF2FBC7-3552-4F01-BB27-8BEEE74F72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75957" y="633763"/>
                <a:ext cx="6276109" cy="830997"/>
              </a:xfrm>
            </p:spPr>
            <p:txBody>
              <a:bodyPr>
                <a:normAutofit fontScale="90000"/>
              </a:bodyPr>
              <a:lstStyle/>
              <a:p>
                <a:pPr lvl="0"/>
                <a:r>
                  <a:rPr lang="en-GB" dirty="0"/>
                  <a:t>Project Description</a:t>
                </a:r>
                <a:br>
                  <a:rPr lang="en-GB" dirty="0"/>
                </a:br>
                <a:br>
                  <a:rPr lang="en-GB" b="0" dirty="0"/>
                </a:br>
                <a:r>
                  <a:rPr lang="en-IN" sz="2200" dirty="0"/>
                  <a:t>Scope &amp; Data: </a:t>
                </a:r>
                <a:r>
                  <a:rPr lang="en-IN" sz="2000" b="0" dirty="0"/>
                  <a:t>Evaluated 4,000 farm records across 8 Indian states, </a:t>
                </a:r>
                <a:r>
                  <a:rPr lang="en-IN" sz="2000" b="0" dirty="0" err="1"/>
                  <a:t>analyzing</a:t>
                </a:r>
                <a:r>
                  <a:rPr lang="en-IN" sz="2000" b="0" dirty="0"/>
                  <a:t> 8 crop varieties over Kharif, Rabi, and Zaid seasons. </a:t>
                </a:r>
                <a:br>
                  <a:rPr lang="en-IN" sz="2000" b="0" dirty="0"/>
                </a:br>
                <a:r>
                  <a:rPr lang="en-IN" sz="2200" dirty="0"/>
                  <a:t>Cleaning &amp; Feature Engineering: </a:t>
                </a:r>
                <a:r>
                  <a:rPr lang="en-IN" sz="2000" b="0" dirty="0"/>
                  <a:t>Imputed missing values using season- and crop-specific medians, and engineered per-hectare economic indicators to eliminate farm-size bias. </a:t>
                </a:r>
                <a:br>
                  <a:rPr lang="en-IN" sz="2000" b="0" dirty="0"/>
                </a:br>
                <a:r>
                  <a:rPr lang="en-IN" sz="2200" dirty="0"/>
                  <a:t>Statistical &amp; Exploratory Analysis</a:t>
                </a:r>
                <a:r>
                  <a:rPr lang="en-IN" sz="2000" b="0" dirty="0"/>
                  <a:t>: Conducted comparative visualizations, correlation </a:t>
                </a:r>
                <a:r>
                  <a:rPr lang="en-IN" sz="2000" b="0" dirty="0" err="1"/>
                  <a:t>modeling</a:t>
                </a:r>
                <a:r>
                  <a:rPr lang="en-IN" sz="2000" b="0" dirty="0"/>
                  <a:t>, and Kruskal-Wallis hypothesis tests (</a:t>
                </a:r>
                <a14:m>
                  <m:oMath xmlns:m="http://schemas.openxmlformats.org/officeDocument/2006/math">
                    <m:r>
                      <a:rPr lang="en-IN" sz="2000" b="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000" b="0">
                        <a:latin typeface="Cambria Math" panose="02040503050406030204" pitchFamily="18" charset="0"/>
                      </a:rPr>
                      <m:t>&lt;0.001</m:t>
                    </m:r>
                  </m:oMath>
                </a14:m>
                <a:r>
                  <a:rPr lang="en-IN" sz="2000" b="0" dirty="0"/>
                  <a:t>) across yield, water efficiency, and pest risks. </a:t>
                </a:r>
                <a:br>
                  <a:rPr lang="en-IN" sz="2000" b="0" dirty="0"/>
                </a:br>
                <a:r>
                  <a:rPr lang="en-IN" sz="2200" dirty="0"/>
                  <a:t>Actionable Insights: </a:t>
                </a:r>
                <a:r>
                  <a:rPr lang="en-IN" sz="2000" b="0" dirty="0"/>
                  <a:t>Derived evidence-based planning recommendations for seasonal crop selection, micro-irrigation adoption, and input optimization. </a:t>
                </a:r>
                <a:br>
                  <a:rPr lang="en-IN" sz="2000" dirty="0"/>
                </a:br>
                <a:endParaRPr lang="en-IN" sz="2000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BF2FBC7-3552-4F01-BB27-8BEEE74F7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75957" y="633763"/>
                <a:ext cx="6276109" cy="830997"/>
              </a:xfrm>
              <a:blipFill>
                <a:blip r:embed="rId2"/>
                <a:stretch>
                  <a:fillRect l="-3887" t="-14706" b="-5580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Agricultural Policymakers &amp; Government Bodies:</a:t>
            </a:r>
          </a:p>
          <a:p>
            <a:pPr lvl="1"/>
            <a:r>
              <a:rPr lang="en-IN" dirty="0"/>
              <a:t>Design targeted seasonal subsidies, set fair minimum support pricing, and guide district-level crop rotation mandates.</a:t>
            </a:r>
          </a:p>
          <a:p>
            <a:pPr lvl="0"/>
            <a:r>
              <a:rPr lang="en-IN" dirty="0"/>
              <a:t>Farmers &amp; Agronomists:</a:t>
            </a:r>
          </a:p>
          <a:p>
            <a:pPr lvl="1"/>
            <a:r>
              <a:rPr lang="en-IN" dirty="0"/>
              <a:t>Select season-appropriate crop portfolios and determine optimal irrigation practices to maximize per-hectare profit.</a:t>
            </a:r>
          </a:p>
          <a:p>
            <a:pPr lvl="0"/>
            <a:r>
              <a:rPr lang="en-IN" dirty="0"/>
              <a:t>Agricultural Lending &amp; Insurance Providers:</a:t>
            </a:r>
          </a:p>
          <a:p>
            <a:pPr lvl="1"/>
            <a:r>
              <a:rPr lang="en-IN" dirty="0"/>
              <a:t>Evaluate seasonal default risk, price crop insurance premiums accurately, and underwrite farm credit based on empirical success rates.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33593" y="1463105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Core Programming Language:</a:t>
            </a:r>
            <a:r>
              <a:rPr lang="en-IN" dirty="0"/>
              <a:t> </a:t>
            </a:r>
            <a:r>
              <a:rPr lang="en-IN" sz="1800" dirty="0"/>
              <a:t>Python 3.10+</a:t>
            </a:r>
          </a:p>
          <a:p>
            <a:pPr lvl="0"/>
            <a:r>
              <a:rPr lang="en-IN" b="1" dirty="0"/>
              <a:t>Data Ingestion &amp; Wrangling:</a:t>
            </a:r>
            <a:r>
              <a:rPr lang="en-IN" dirty="0"/>
              <a:t> </a:t>
            </a:r>
            <a:r>
              <a:rPr lang="en-IN" sz="1800" dirty="0"/>
              <a:t>Pandas, NumPy</a:t>
            </a:r>
            <a:endParaRPr lang="en-IN" dirty="0"/>
          </a:p>
          <a:p>
            <a:pPr lvl="0"/>
            <a:r>
              <a:rPr lang="en-IN" b="1" dirty="0"/>
              <a:t>Scientific &amp; Inferential Statistics:</a:t>
            </a:r>
            <a:r>
              <a:rPr lang="en-IN" dirty="0"/>
              <a:t> </a:t>
            </a:r>
            <a:r>
              <a:rPr lang="en-IN" sz="1800" dirty="0"/>
              <a:t>SciPy (</a:t>
            </a:r>
            <a:r>
              <a:rPr lang="en-IN" sz="1800" dirty="0" err="1"/>
              <a:t>scipy.stats</a:t>
            </a:r>
            <a:r>
              <a:rPr lang="en-IN" sz="1800" dirty="0"/>
              <a:t> for Kruskal-Wallis H-test, Shapiro-Wilk)</a:t>
            </a:r>
            <a:endParaRPr lang="en-IN" dirty="0"/>
          </a:p>
          <a:p>
            <a:pPr lvl="0"/>
            <a:r>
              <a:rPr lang="en-IN" b="1" dirty="0"/>
              <a:t>Data Visualization &amp; Analytics Plots:</a:t>
            </a:r>
            <a:r>
              <a:rPr lang="en-IN" dirty="0"/>
              <a:t> Matplotlib, </a:t>
            </a:r>
            <a:r>
              <a:rPr lang="en-IN" sz="1800" dirty="0"/>
              <a:t>Seaborn</a:t>
            </a:r>
          </a:p>
          <a:p>
            <a:pPr lvl="0"/>
            <a:r>
              <a:rPr lang="en-IN" b="1" dirty="0"/>
              <a:t>Interactive Development Environment:</a:t>
            </a:r>
            <a:r>
              <a:rPr lang="en-IN" dirty="0"/>
              <a:t> </a:t>
            </a:r>
            <a:r>
              <a:rPr lang="en-IN" sz="1800" dirty="0"/>
              <a:t>Jupyter Notebook / </a:t>
            </a:r>
            <a:r>
              <a:rPr lang="en-IN" sz="1800" dirty="0" err="1"/>
              <a:t>JupyterLab</a:t>
            </a: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/>
              <a:t>Dataset Ingestion &amp; Verification</a:t>
            </a:r>
          </a:p>
          <a:p>
            <a:pPr lvl="0"/>
            <a:r>
              <a:rPr lang="en-IN" sz="8000" b="1" dirty="0"/>
              <a:t>Scale: </a:t>
            </a:r>
            <a:r>
              <a:rPr lang="en-IN" sz="7200" dirty="0"/>
              <a:t>Confirmed 4,000 complete farm records across 28 multi-disciplinary agricultural features.</a:t>
            </a:r>
          </a:p>
          <a:p>
            <a:pPr lvl="0"/>
            <a:r>
              <a:rPr lang="en-IN" sz="8000" b="1" dirty="0"/>
              <a:t>Entity Integrity: </a:t>
            </a:r>
            <a:r>
              <a:rPr lang="en-IN" sz="7200" dirty="0"/>
              <a:t>Zero duplicate Farm IDs found, ensuring each entry represents an individual farm entity.</a:t>
            </a:r>
          </a:p>
          <a:p>
            <a:pPr lvl="0"/>
            <a:r>
              <a:rPr lang="en-IN" sz="8000" b="1" dirty="0"/>
              <a:t>Missing Value Detection:</a:t>
            </a:r>
            <a:r>
              <a:rPr lang="en-IN" sz="8000" dirty="0"/>
              <a:t> </a:t>
            </a:r>
            <a:r>
              <a:rPr lang="en-IN" sz="7200" dirty="0"/>
              <a:t>Isolated missing attributes restricted to Rainfall (1.20%), Soil Moisture (1.00%), and Yield (0.80%).</a:t>
            </a:r>
          </a:p>
          <a:p>
            <a:pPr lvl="0"/>
            <a:r>
              <a:rPr lang="en-IN" sz="8000" b="1" dirty="0"/>
              <a:t>Type Safety</a:t>
            </a:r>
            <a:r>
              <a:rPr lang="en-IN" sz="7200" b="1" dirty="0"/>
              <a:t>:</a:t>
            </a:r>
            <a:r>
              <a:rPr lang="en-IN" sz="7200" dirty="0"/>
              <a:t> Cleanly categorized into 17 floating-point values, 5 integers, and 6 categorical indicators.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 descr="Data Ingestion and Inspection Screenshot">
            <a:extLst>
              <a:ext uri="{FF2B5EF4-FFF2-40B4-BE49-F238E27FC236}">
                <a16:creationId xmlns:a16="http://schemas.microsoft.com/office/drawing/2014/main" id="{C1CBFACB-27F8-27EA-54B3-0E9B4FE32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0453"/>
            <a:ext cx="5884555" cy="434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130890"/>
            <a:ext cx="4275138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Subgroup Imputation &amp; Metrics</a:t>
            </a:r>
          </a:p>
          <a:p>
            <a:pPr lvl="0"/>
            <a:r>
              <a:rPr lang="en-IN" b="1" dirty="0"/>
              <a:t>Targeted Imputation:</a:t>
            </a:r>
            <a:r>
              <a:rPr lang="en-IN" dirty="0"/>
              <a:t> </a:t>
            </a:r>
            <a:r>
              <a:rPr lang="en-IN" sz="1800" dirty="0"/>
              <a:t>Replaced missing values using subgroup medians by Season (Rainfall, Moisture) and Crop-Season pairs .</a:t>
            </a:r>
          </a:p>
          <a:p>
            <a:pPr lvl="0"/>
            <a:r>
              <a:rPr lang="en-IN" b="1" dirty="0"/>
              <a:t>Mathematical Consistency:</a:t>
            </a:r>
            <a:r>
              <a:rPr lang="en-IN" dirty="0"/>
              <a:t> </a:t>
            </a:r>
            <a:r>
              <a:rPr lang="en-IN" sz="1800" dirty="0"/>
              <a:t>Recomputed Production Tonnes to preserve the exact identity with Yield and Area.</a:t>
            </a:r>
          </a:p>
          <a:p>
            <a:pPr lvl="0"/>
            <a:r>
              <a:rPr lang="en-IN" b="1" dirty="0"/>
              <a:t>Per-Hectare Normalization:</a:t>
            </a:r>
            <a:r>
              <a:rPr lang="en-IN" dirty="0"/>
              <a:t> </a:t>
            </a:r>
            <a:r>
              <a:rPr lang="en-IN" sz="1800" dirty="0"/>
              <a:t>Engineered Cost/Ha, Revenue/Ha, and Profit/Ha to enable fair farm-scale comparisons.</a:t>
            </a:r>
          </a:p>
          <a:p>
            <a:pPr lvl="0"/>
            <a:r>
              <a:rPr lang="en-IN" b="1" dirty="0"/>
              <a:t>Economic Indicators:</a:t>
            </a:r>
            <a:r>
              <a:rPr lang="en-IN" dirty="0"/>
              <a:t> </a:t>
            </a:r>
            <a:r>
              <a:rPr lang="en-IN" sz="1800" dirty="0"/>
              <a:t>Computed Profit Margin percentages and a binary Profitability classification indicator.</a:t>
            </a:r>
          </a:p>
        </p:txBody>
      </p:sp>
      <p:pic>
        <p:nvPicPr>
          <p:cNvPr id="2" name="Picture 1" descr="Feature Engineering Code and Output">
            <a:extLst>
              <a:ext uri="{FF2B5EF4-FFF2-40B4-BE49-F238E27FC236}">
                <a16:creationId xmlns:a16="http://schemas.microsoft.com/office/drawing/2014/main" id="{3E839E27-16A8-ECB0-E07F-3D0E0885B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1941449"/>
            <a:ext cx="5429250" cy="400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739" y="1275371"/>
            <a:ext cx="4275138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Multi-Panel Performance Findings</a:t>
            </a:r>
          </a:p>
          <a:p>
            <a:pPr lvl="0"/>
            <a:r>
              <a:rPr lang="en-IN" b="1" dirty="0"/>
              <a:t>Kharif Supremacy</a:t>
            </a:r>
            <a:r>
              <a:rPr lang="en-IN" sz="1800" b="1" dirty="0"/>
              <a:t>:</a:t>
            </a:r>
            <a:r>
              <a:rPr lang="en-IN" sz="1800" dirty="0"/>
              <a:t> Recorded peak mean yield (5.63 t/ha) and highest profit (mean ₹21,881/ha; 58% profitable).</a:t>
            </a:r>
          </a:p>
          <a:p>
            <a:pPr lvl="0"/>
            <a:r>
              <a:rPr lang="en-IN" b="1" dirty="0"/>
              <a:t>Rabi Stability:</a:t>
            </a:r>
            <a:r>
              <a:rPr lang="en-IN" dirty="0"/>
              <a:t> </a:t>
            </a:r>
            <a:r>
              <a:rPr lang="en-IN" sz="1800" dirty="0"/>
              <a:t>Sustained steady production (5.09 t/ha mean) and moderate returns (₹10,361/ha) under cool weather.</a:t>
            </a:r>
          </a:p>
          <a:p>
            <a:pPr lvl="0"/>
            <a:r>
              <a:rPr lang="en-IN" b="1" dirty="0"/>
              <a:t>The Zaid Deficit:</a:t>
            </a:r>
            <a:r>
              <a:rPr lang="en-IN" dirty="0"/>
              <a:t> </a:t>
            </a:r>
            <a:r>
              <a:rPr lang="en-IN" sz="1800" dirty="0"/>
              <a:t>Exhibited net negative median profits (-₹13,760/ha; 36% profitable) due to heat and water stress.</a:t>
            </a:r>
          </a:p>
          <a:p>
            <a:pPr lvl="0"/>
            <a:r>
              <a:rPr lang="en-IN" b="1" dirty="0"/>
              <a:t>Irrigation Divergence:</a:t>
            </a:r>
            <a:r>
              <a:rPr lang="en-IN" dirty="0"/>
              <a:t> </a:t>
            </a:r>
            <a:r>
              <a:rPr lang="en-IN" sz="1800" dirty="0"/>
              <a:t>Drip irrigation preserved positive net margins across all seasons, whereas flood suffered steep summer losses.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5D6F1-67C2-094A-8367-AC2C95A78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0453"/>
            <a:ext cx="6096000" cy="414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/>
              <a:t>Correlation &amp; Driver Discovery</a:t>
            </a:r>
          </a:p>
          <a:p>
            <a:pPr lvl="0"/>
            <a:r>
              <a:rPr lang="en-IN" sz="8000" b="1" dirty="0"/>
              <a:t>Water Efficiency Drives Economics:</a:t>
            </a:r>
            <a:r>
              <a:rPr lang="en-IN" sz="8000" dirty="0"/>
              <a:t> </a:t>
            </a:r>
            <a:r>
              <a:rPr lang="en-IN" sz="7200" dirty="0"/>
              <a:t>Water efficiency strongly correlates with net profit per hectare (r = 0.54) and yield (r = 0.92).</a:t>
            </a:r>
          </a:p>
          <a:p>
            <a:pPr lvl="0"/>
            <a:r>
              <a:rPr lang="en-IN" sz="8000" b="1" dirty="0"/>
              <a:t>Precipitation and Pest Threat:</a:t>
            </a:r>
            <a:r>
              <a:rPr lang="en-IN" sz="8000" dirty="0"/>
              <a:t> </a:t>
            </a:r>
            <a:r>
              <a:rPr lang="en-IN" sz="7200" dirty="0"/>
              <a:t>Natural rainfall strongly amplifies pest/disease risk (r = 0.62) and relative humidity (r = 0.53).</a:t>
            </a:r>
          </a:p>
          <a:p>
            <a:pPr lvl="0"/>
            <a:r>
              <a:rPr lang="en-IN" sz="8000" b="1" dirty="0"/>
              <a:t>Fertilizer Decoupling:</a:t>
            </a:r>
            <a:r>
              <a:rPr lang="en-IN" sz="8000" dirty="0"/>
              <a:t> </a:t>
            </a:r>
            <a:r>
              <a:rPr lang="en-IN" sz="7200" dirty="0"/>
              <a:t>Chemical fertilizer exhibits near-zero correlation with yield (r = -0.00), demonstrating diminishing returns.</a:t>
            </a:r>
          </a:p>
          <a:p>
            <a:pPr lvl="0"/>
            <a:r>
              <a:rPr lang="en-IN" sz="8000" b="1" dirty="0"/>
              <a:t>Pesticide Efficacy:</a:t>
            </a:r>
            <a:r>
              <a:rPr lang="en-IN" sz="8000" dirty="0"/>
              <a:t> </a:t>
            </a:r>
            <a:r>
              <a:rPr lang="en-IN" sz="7200" dirty="0"/>
              <a:t>Chemical pesticide application demonstrated an effective negative association with pest risk (r = -0.47).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9DF9B-50EB-4DD0-7F55-00304E2C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9212"/>
            <a:ext cx="6096000" cy="45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026" y="1201586"/>
            <a:ext cx="4275138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Evidence-Based Conclusions</a:t>
            </a:r>
          </a:p>
          <a:p>
            <a:pPr lvl="0"/>
            <a:r>
              <a:rPr lang="en-IN" b="1" dirty="0"/>
              <a:t>Crop Resilience:</a:t>
            </a:r>
            <a:r>
              <a:rPr lang="en-IN" dirty="0"/>
              <a:t> </a:t>
            </a:r>
            <a:r>
              <a:rPr lang="en-IN" sz="1800" dirty="0"/>
              <a:t>Commercial crops (Sugarcane, Chilli) maintain robust profitability across all seasons (&gt;₹51,000/ha in Zaid).</a:t>
            </a:r>
          </a:p>
          <a:p>
            <a:pPr lvl="0"/>
            <a:r>
              <a:rPr lang="en-IN" b="1" dirty="0"/>
              <a:t>Grain Vulnerability:</a:t>
            </a:r>
            <a:r>
              <a:rPr lang="en-IN" dirty="0"/>
              <a:t> </a:t>
            </a:r>
            <a:r>
              <a:rPr lang="en-IN" sz="1800" dirty="0"/>
              <a:t>Food staples (Rice, Wheat, Maize) operate near break-even, suffering heavy negative margins during summer.</a:t>
            </a:r>
          </a:p>
          <a:p>
            <a:pPr lvl="0"/>
            <a:r>
              <a:rPr lang="en-IN" b="1" dirty="0"/>
              <a:t>Micro-Irrigation Mandate:</a:t>
            </a:r>
            <a:r>
              <a:rPr lang="en-IN" dirty="0"/>
              <a:t> </a:t>
            </a:r>
            <a:r>
              <a:rPr lang="en-IN" sz="1800" dirty="0"/>
              <a:t>Enforcing drip irrigation in Zaid eliminates evaporative waste and reverses negative cash flows.</a:t>
            </a:r>
          </a:p>
          <a:p>
            <a:pPr lvl="0"/>
            <a:r>
              <a:rPr lang="en-IN" b="1" dirty="0"/>
              <a:t>Monsoon IPM:</a:t>
            </a:r>
            <a:r>
              <a:rPr lang="en-IN" dirty="0"/>
              <a:t> </a:t>
            </a:r>
            <a:r>
              <a:rPr lang="en-IN" sz="1800" dirty="0"/>
              <a:t>Recommends preventive bio-pesticide scheduling prior to peak Kharif humidity to counter pest spikes.</a:t>
            </a:r>
          </a:p>
        </p:txBody>
      </p:sp>
      <p:pic>
        <p:nvPicPr>
          <p:cNvPr id="2" name="Picture 1" descr="Synthesis Markdown Summary">
            <a:extLst>
              <a:ext uri="{FF2B5EF4-FFF2-40B4-BE49-F238E27FC236}">
                <a16:creationId xmlns:a16="http://schemas.microsoft.com/office/drawing/2014/main" id="{3BF6B66F-BC51-305C-2DD7-EB1532A8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9213"/>
            <a:ext cx="6096000" cy="400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2C646-F8EE-3108-33F8-28A8A102C2FD}"/>
              </a:ext>
            </a:extLst>
          </p:cNvPr>
          <p:cNvSpPr txBox="1"/>
          <p:nvPr/>
        </p:nvSpPr>
        <p:spPr>
          <a:xfrm>
            <a:off x="675956" y="1582340"/>
            <a:ext cx="89823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Supervised Machine Learning Models: </a:t>
            </a:r>
            <a:r>
              <a:rPr lang="en-IN" dirty="0"/>
              <a:t>Build Random Forest and </a:t>
            </a:r>
            <a:r>
              <a:rPr lang="en-IN" dirty="0" err="1"/>
              <a:t>XGBoost</a:t>
            </a:r>
            <a:r>
              <a:rPr lang="en-IN" dirty="0"/>
              <a:t> regression models to predict harvest yield and profit margins based on pre-sowing weather forecasts.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IoT &amp; Remote Sensing Integration:</a:t>
            </a:r>
            <a:r>
              <a:rPr lang="en-IN" sz="2000" dirty="0"/>
              <a:t> </a:t>
            </a:r>
            <a:r>
              <a:rPr lang="en-IN" dirty="0"/>
              <a:t>Ingest satellite-derived vegetative indices (NDVI) and real-time IoT soil sensors for dynamic irrigation scheduling.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Climate Stress Testing:</a:t>
            </a:r>
            <a:r>
              <a:rPr lang="en-IN" sz="2000" dirty="0"/>
              <a:t> </a:t>
            </a:r>
            <a:r>
              <a:rPr lang="en-IN" dirty="0"/>
              <a:t>Simulate extreme weather events (heatwaves, delayed monsoons) to stress-test farm resilience across vulnerable districts.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Farmer Decision Support System (DSS):</a:t>
            </a:r>
            <a:r>
              <a:rPr lang="en-IN" sz="2000" dirty="0"/>
              <a:t> </a:t>
            </a:r>
            <a:r>
              <a:rPr lang="en-IN" dirty="0"/>
              <a:t>Develop a web-based dashboard (</a:t>
            </a:r>
            <a:r>
              <a:rPr lang="en-IN" dirty="0" err="1"/>
              <a:t>Streamlit</a:t>
            </a:r>
            <a:r>
              <a:rPr lang="en-IN" dirty="0"/>
              <a:t> / </a:t>
            </a:r>
            <a:r>
              <a:rPr lang="en-IN" dirty="0" err="1"/>
              <a:t>FastAPI</a:t>
            </a:r>
            <a:r>
              <a:rPr lang="en-IN" dirty="0"/>
              <a:t>) providing localized crop and irrigation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D7A86-1858-5407-3645-5718EB594039}"/>
              </a:ext>
            </a:extLst>
          </p:cNvPr>
          <p:cNvSpPr txBox="1"/>
          <p:nvPr/>
        </p:nvSpPr>
        <p:spPr>
          <a:xfrm>
            <a:off x="1404619" y="1368903"/>
            <a:ext cx="6107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https://github.com/ygurubetti/Seasonal-Agriculture-Performance-Analysis/tree/main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F8A35D-35BA-91E8-FC92-089B0E1F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762" y="1536256"/>
            <a:ext cx="7254869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A51A9C-7ADF-C3B6-A8CD-11CAA2EC3634}"/>
              </a:ext>
            </a:extLst>
          </p:cNvPr>
          <p:cNvSpPr txBox="1"/>
          <p:nvPr/>
        </p:nvSpPr>
        <p:spPr>
          <a:xfrm>
            <a:off x="1496616" y="1851577"/>
            <a:ext cx="7490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Project:</a:t>
            </a:r>
            <a:r>
              <a:rPr lang="en-IN" dirty="0"/>
              <a:t> Seasonal Agriculture Performance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Presenter:</a:t>
            </a:r>
            <a:r>
              <a:rPr lang="en-IN" dirty="0"/>
              <a:t> Yogesh </a:t>
            </a:r>
            <a:r>
              <a:rPr lang="en-IN" dirty="0" err="1"/>
              <a:t>Gurubetti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GitHub: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https://github.com/ygurubetti/Seasonal-Agriculture-Performance-Analysis/tree/main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Email: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ygurubetti@gmail.com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F2A88-2B47-DA61-A5EB-53576DF48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776</TotalTime>
  <Words>952</Words>
  <Application>Microsoft Office PowerPoint</Application>
  <PresentationFormat>Widescreen</PresentationFormat>
  <Paragraphs>72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 Scope &amp; Data: Evaluated 4,000 farm records across 8 Indian states, analyzing 8 crop varieties over Kharif, Rabi, and Zaid seasons.  Cleaning &amp; Feature Engineering: Imputed missing values using season- and crop-specific medians, and engineered per-hectare economic indicators to eliminate farm-size bias.  Statistical &amp; Exploratory Analysis: Conducted comparative visualizations, correlation modeling, and Kruskal-Wallis hypothesis tests (p&lt;0.001) across yield, water efficiency, and pest risks.  Actionable Insights: Derived evidence-based planning recommendations for seasonal crop selection, micro-irrigation adoption, and input optimization.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ygurubetti@gmail.com</cp:lastModifiedBy>
  <cp:revision>99</cp:revision>
  <dcterms:created xsi:type="dcterms:W3CDTF">2021-07-11T13:13:15Z</dcterms:created>
  <dcterms:modified xsi:type="dcterms:W3CDTF">2026-09-09T15:08:29Z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